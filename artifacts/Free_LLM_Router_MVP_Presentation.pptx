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6039c171374fb2" /><Relationship Type="http://schemas.openxmlformats.org/officeDocument/2006/relationships/extended-properties" Target="/docProps/app.xml" Id="R1dd4cff89e744ee1" /><Relationship Type="http://schemas.openxmlformats.org/officeDocument/2006/relationships/officeDocument" Target="/ppt/presentation.xml" Id="Rbfb22bf7ba684905" /></Relationships>
</file>

<file path=ppt/presentation.xml><?xml version="1.0" encoding="utf-8"?>
<p:presentation xmlns:p="http://schemas.openxmlformats.org/presentationml/2006/main">
  <p:sldMasterIdLst>
    <p:sldMasterId xmlns:r="http://schemas.openxmlformats.org/officeDocument/2006/relationships" id="2147483648" r:id="Rd44a34e374744830"/>
  </p:sldMasterIdLst>
  <p:notesMasterIdLst>
    <p:notesMasterId xmlns:r="http://schemas.openxmlformats.org/officeDocument/2006/relationships" r:id="Ra9743d82c941429e"/>
  </p:notesMasterIdLst>
  <p:sldIdLst>
    <p:sldId xmlns:r="http://schemas.openxmlformats.org/officeDocument/2006/relationships" id="256" r:id="Ra2946f2f150b4bcb"/>
    <p:sldId xmlns:r="http://schemas.openxmlformats.org/officeDocument/2006/relationships" id="257" r:id="Rc695189e02e8416d"/>
    <p:sldId xmlns:r="http://schemas.openxmlformats.org/officeDocument/2006/relationships" id="258" r:id="Ra275e2a3c64f49d5"/>
    <p:sldId xmlns:r="http://schemas.openxmlformats.org/officeDocument/2006/relationships" id="259" r:id="Rb712d88a1e25498d"/>
    <p:sldId xmlns:r="http://schemas.openxmlformats.org/officeDocument/2006/relationships" id="260" r:id="R390117769dab40d4"/>
    <p:sldId xmlns:r="http://schemas.openxmlformats.org/officeDocument/2006/relationships" id="261" r:id="Rf7314bf9c21a4b4c"/>
    <p:sldId xmlns:r="http://schemas.openxmlformats.org/officeDocument/2006/relationships" id="262" r:id="R7e7446993de2409c"/>
    <p:sldId xmlns:r="http://schemas.openxmlformats.org/officeDocument/2006/relationships" id="263" r:id="R12658000dabc4505"/>
    <p:sldId xmlns:r="http://schemas.openxmlformats.org/officeDocument/2006/relationships" id="264" r:id="Rfcbba82535784d65"/>
    <p:sldId xmlns:r="http://schemas.openxmlformats.org/officeDocument/2006/relationships" id="265" r:id="Rda11c207b53f41b7"/>
    <p:sldId xmlns:r="http://schemas.openxmlformats.org/officeDocument/2006/relationships" id="266" r:id="R00656635e25747d0"/>
    <p:sldId xmlns:r="http://schemas.openxmlformats.org/officeDocument/2006/relationships" id="267" r:id="R87f86b57169e4c7f"/>
    <p:sldId xmlns:r="http://schemas.openxmlformats.org/officeDocument/2006/relationships" id="268" r:id="R43563391eb184ba8"/>
    <p:sldId xmlns:r="http://schemas.openxmlformats.org/officeDocument/2006/relationships" id="269" r:id="Rb219c7a8eb53423b"/>
    <p:sldId xmlns:r="http://schemas.openxmlformats.org/officeDocument/2006/relationships" id="270" r:id="Rf6b393cf8d6146ad"/>
    <p:sldId xmlns:r="http://schemas.openxmlformats.org/officeDocument/2006/relationships" id="271" r:id="R2e6ce984c4224415"/>
    <p:sldId xmlns:r="http://schemas.openxmlformats.org/officeDocument/2006/relationships" id="272" r:id="R24c14a4bd4854db5"/>
    <p:sldId xmlns:r="http://schemas.openxmlformats.org/officeDocument/2006/relationships" id="273" r:id="R774828eb3e424575"/>
    <p:sldId xmlns:r="http://schemas.openxmlformats.org/officeDocument/2006/relationships" id="274" r:id="Rc097836809c04f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f57f6b765148a6" /><Relationship Type="http://schemas.openxmlformats.org/officeDocument/2006/relationships/slideMaster" Target="/ppt/slideMasters/slideMaster1.xml" Id="Rd44a34e374744830" /><Relationship Type="http://schemas.openxmlformats.org/officeDocument/2006/relationships/notesMaster" Target="/ppt/notesMasters/notesMaster1.xml" Id="Ra9743d82c941429e" /><Relationship Type="http://schemas.openxmlformats.org/officeDocument/2006/relationships/presProps" Target="/ppt/presProps.xml" Id="Rc391c1ead101426c" /><Relationship Type="http://schemas.openxmlformats.org/officeDocument/2006/relationships/tableStyles" Target="/ppt/tableStyles.xml" Id="R66e88fe695e045f3" /><Relationship Type="http://schemas.openxmlformats.org/officeDocument/2006/relationships/slide" Target="/ppt/slides/slide1.xml" Id="Ra2946f2f150b4bcb" /><Relationship Type="http://schemas.openxmlformats.org/officeDocument/2006/relationships/slide" Target="/ppt/slides/slide2.xml" Id="Rc695189e02e8416d" /><Relationship Type="http://schemas.openxmlformats.org/officeDocument/2006/relationships/slide" Target="/ppt/slides/slide3.xml" Id="Ra275e2a3c64f49d5" /><Relationship Type="http://schemas.openxmlformats.org/officeDocument/2006/relationships/slide" Target="/ppt/slides/slide4.xml" Id="Rb712d88a1e25498d" /><Relationship Type="http://schemas.openxmlformats.org/officeDocument/2006/relationships/slide" Target="/ppt/slides/slide5.xml" Id="R390117769dab40d4" /><Relationship Type="http://schemas.openxmlformats.org/officeDocument/2006/relationships/slide" Target="/ppt/slides/slide6.xml" Id="Rf7314bf9c21a4b4c" /><Relationship Type="http://schemas.openxmlformats.org/officeDocument/2006/relationships/slide" Target="/ppt/slides/slide7.xml" Id="R7e7446993de2409c" /><Relationship Type="http://schemas.openxmlformats.org/officeDocument/2006/relationships/slide" Target="/ppt/slides/slide8.xml" Id="R12658000dabc4505" /><Relationship Type="http://schemas.openxmlformats.org/officeDocument/2006/relationships/slide" Target="/ppt/slides/slide9.xml" Id="Rfcbba82535784d65" /><Relationship Type="http://schemas.openxmlformats.org/officeDocument/2006/relationships/slide" Target="/ppt/slides/slide10.xml" Id="Rda11c207b53f41b7" /><Relationship Type="http://schemas.openxmlformats.org/officeDocument/2006/relationships/slide" Target="/ppt/slides/slide11.xml" Id="R00656635e25747d0" /><Relationship Type="http://schemas.openxmlformats.org/officeDocument/2006/relationships/slide" Target="/ppt/slides/slide12.xml" Id="R87f86b57169e4c7f" /><Relationship Type="http://schemas.openxmlformats.org/officeDocument/2006/relationships/slide" Target="/ppt/slides/slide13.xml" Id="R43563391eb184ba8" /><Relationship Type="http://schemas.openxmlformats.org/officeDocument/2006/relationships/slide" Target="/ppt/slides/slide14.xml" Id="Rb219c7a8eb53423b" /><Relationship Type="http://schemas.openxmlformats.org/officeDocument/2006/relationships/slide" Target="/ppt/slides/slide15.xml" Id="Rf6b393cf8d6146ad" /><Relationship Type="http://schemas.openxmlformats.org/officeDocument/2006/relationships/slide" Target="/ppt/slides/slide16.xml" Id="R2e6ce984c4224415" /><Relationship Type="http://schemas.openxmlformats.org/officeDocument/2006/relationships/slide" Target="/ppt/slides/slide17.xml" Id="R24c14a4bd4854db5" /><Relationship Type="http://schemas.openxmlformats.org/officeDocument/2006/relationships/slide" Target="/ppt/slides/slide18.xml" Id="R774828eb3e424575" /><Relationship Type="http://schemas.openxmlformats.org/officeDocument/2006/relationships/slide" Target="/ppt/slides/slide19.xml" Id="Rc097836809c04f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6d759f577049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053564d7244106" /><Relationship Type="http://schemas.openxmlformats.org/officeDocument/2006/relationships/notesMaster" Target="/ppt/notesMasters/notesMaster1.xml" Id="Re83fcfb00bee4b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37e61e598c4b42" /><Relationship Type="http://schemas.openxmlformats.org/officeDocument/2006/relationships/notesMaster" Target="/ppt/notesMasters/notesMaster1.xml" Id="R35682e93bd6849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e151514c1646d5" /><Relationship Type="http://schemas.openxmlformats.org/officeDocument/2006/relationships/notesMaster" Target="/ppt/notesMasters/notesMaster1.xml" Id="Rf1b9fe00682247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1e7a0af5054612" /><Relationship Type="http://schemas.openxmlformats.org/officeDocument/2006/relationships/notesMaster" Target="/ppt/notesMasters/notesMaster1.xml" Id="R0b34c2011fc442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843891b4f543df" /><Relationship Type="http://schemas.openxmlformats.org/officeDocument/2006/relationships/notesMaster" Target="/ppt/notesMasters/notesMaster1.xml" Id="R5112bdc0451b49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bb0053ca2a49ce" /><Relationship Type="http://schemas.openxmlformats.org/officeDocument/2006/relationships/notesMaster" Target="/ppt/notesMasters/notesMaster1.xml" Id="Rce37c296915540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ed732350f0409b" /><Relationship Type="http://schemas.openxmlformats.org/officeDocument/2006/relationships/notesMaster" Target="/ppt/notesMasters/notesMaster1.xml" Id="R300f0a98d7da42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c6fa1f3bca490a" /><Relationship Type="http://schemas.openxmlformats.org/officeDocument/2006/relationships/notesMaster" Target="/ppt/notesMasters/notesMaster1.xml" Id="R253368574ab641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4d61d2e7d64da4" /><Relationship Type="http://schemas.openxmlformats.org/officeDocument/2006/relationships/notesMaster" Target="/ppt/notesMasters/notesMaster1.xml" Id="R338bbdb01ddd46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fbcd4d6dfc4ec4" /><Relationship Type="http://schemas.openxmlformats.org/officeDocument/2006/relationships/notesMaster" Target="/ppt/notesMasters/notesMaster1.xml" Id="R186ac78b138b4b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34b12d1bf44060" /><Relationship Type="http://schemas.openxmlformats.org/officeDocument/2006/relationships/notesMaster" Target="/ppt/notesMasters/notesMaster1.xml" Id="Rf58742dc0d4946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291f38b4904506" /><Relationship Type="http://schemas.openxmlformats.org/officeDocument/2006/relationships/notesMaster" Target="/ppt/notesMasters/notesMaster1.xml" Id="Raa67449ff3674a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63222e603e45cb" /><Relationship Type="http://schemas.openxmlformats.org/officeDocument/2006/relationships/notesMaster" Target="/ppt/notesMasters/notesMaster1.xml" Id="Rc68c479888214e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11baf6245c4ddd" /><Relationship Type="http://schemas.openxmlformats.org/officeDocument/2006/relationships/notesMaster" Target="/ppt/notesMasters/notesMaster1.xml" Id="Rf956424b655e45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aa20720789640c9" /><Relationship Type="http://schemas.openxmlformats.org/officeDocument/2006/relationships/notesMaster" Target="/ppt/notesMasters/notesMaster1.xml" Id="R886bd125649c48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24c4338c1cd4bc2" /><Relationship Type="http://schemas.openxmlformats.org/officeDocument/2006/relationships/notesMaster" Target="/ppt/notesMasters/notesMaster1.xml" Id="R7dc8f6ab337f41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bcf077e1ca4885" /><Relationship Type="http://schemas.openxmlformats.org/officeDocument/2006/relationships/notesMaster" Target="/ppt/notesMasters/notesMaster1.xml" Id="R1bf5a77e424b49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6a00a5ef0c440c4" /><Relationship Type="http://schemas.openxmlformats.org/officeDocument/2006/relationships/notesMaster" Target="/ppt/notesMasters/notesMaster1.xml" Id="Re1c52dc9462f430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4ec8ff2dc694224" /><Relationship Type="http://schemas.openxmlformats.org/officeDocument/2006/relationships/notesMaster" Target="/ppt/notesMasters/notesMaster1.xml" Id="R16adb36e926146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promise: applications should not have to choose permanently between cloud reach and local privacy.</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docs/MANUAL.md</a:t>
            </a:r>
          </a:p>
          <a:p xmlns:a="http://schemas.openxmlformats.org/drawingml/2006/main">
            <a:r>
              <a:t>- docs/CONNECT_LOCAL_LLM.md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router as infrastructure that removes provider decisions from product code. A startup can add or replace providers without redeploying its application.</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counts are product capabilities, not market metrics: one gateway; three supported API compatibility surfaces; cloud and private local provider classes.</a:t>
            </a:r>
          </a:p>
          <a:p xmlns:a="http://schemas.openxmlformats.org/drawingml/2006/main">
            <a:r>
              <a:t/>
            </a:r>
          </a:p>
          <a:p xmlns:a="http://schemas.openxmlformats.org/drawingml/2006/main">
            <a:r>
              <a:t>[Sources]</a:t>
            </a:r>
          </a:p>
          <a:p xmlns:a="http://schemas.openxmlformats.org/drawingml/2006/main">
            <a:r>
              <a:t>- docs/MANUAL.md</a:t>
            </a:r>
          </a:p>
          <a:p xmlns:a="http://schemas.openxmlformats.org/drawingml/2006/main">
            <a:r>
              <a:t>- docs/CONNECT_LOCAL_LLM.md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architecture slide. The key idea is that local Ollama looks like a provider to the routing engine but receives stricter ownership and authorization checks.</a:t>
            </a:r>
          </a:p>
          <a:p xmlns:a="http://schemas.openxmlformats.org/drawingml/2006/main">
            <a:r>
              <a:t/>
            </a:r>
          </a:p>
          <a:p xmlns:a="http://schemas.openxmlformats.org/drawingml/2006/main">
            <a:r>
              <a:t>[Sources]</a:t>
            </a:r>
          </a:p>
          <a:p xmlns:a="http://schemas.openxmlformats.org/drawingml/2006/main">
            <a:r>
              <a:t>- CONNECT_LOCAL_LLM_V1_ROADMAP.md</a:t>
            </a:r>
          </a:p>
          <a:p xmlns:a="http://schemas.openxmlformats.org/drawingml/2006/main">
            <a:r>
              <a:t>- docs/MANUAL.md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a law office can summarize confidential drafts on its own workstation without publicly exposing Ollama. The agent accepts inference, not model deletion or installation commands.</a:t>
            </a:r>
          </a:p>
          <a:p xmlns:a="http://schemas.openxmlformats.org/drawingml/2006/main">
            <a:r>
              <a:t/>
            </a:r>
          </a:p>
          <a:p xmlns:a="http://schemas.openxmlformats.org/drawingml/2006/main">
            <a:r>
              <a:t>[Sources]</a:t>
            </a:r>
          </a:p>
          <a:p xmlns:a="http://schemas.openxmlformats.org/drawingml/2006/main">
            <a:r>
              <a:t>- docs/CONNECT_LOCAL_LLM.md</a:t>
            </a:r>
          </a:p>
          <a:p xmlns:a="http://schemas.openxmlformats.org/drawingml/2006/main">
            <a:r>
              <a:t>- CONNECT_LOCAL_LLM_V1_ROADMAP.md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cases: normal order for mixed workloads; prefer local for routine summaries that should be cheap; local only for HR, legal, or regulated prompts that must not leave the machine.</a:t>
            </a:r>
          </a:p>
          <a:p xmlns:a="http://schemas.openxmlformats.org/drawingml/2006/main">
            <a:r>
              <a:t/>
            </a:r>
          </a:p>
          <a:p xmlns:a="http://schemas.openxmlformats.org/drawingml/2006/main">
            <a:r>
              <a:t>[Sources]</a:t>
            </a:r>
          </a:p>
          <a:p xmlns:a="http://schemas.openxmlformats.org/drawingml/2006/main">
            <a:r>
              <a:t>- docs/CONNECT_LOCAL_LLM.md</a:t>
            </a:r>
          </a:p>
          <a:p xmlns:a="http://schemas.openxmlformats.org/drawingml/2006/main">
            <a:r>
              <a:t>- CONNECT_LOCAL_LLM_V1_ROADMAP.md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Groq returns 429, enters cooldown, and OpenRouter answers instead. During a provider outage, the circuit breaker keeps every user request from waiting on the same failing service.</a:t>
            </a:r>
          </a:p>
          <a:p xmlns:a="http://schemas.openxmlformats.org/drawingml/2006/main">
            <a:r>
              <a:t/>
            </a:r>
          </a:p>
          <a:p xmlns:a="http://schemas.openxmlformats.org/drawingml/2006/main">
            <a:r>
              <a:t>[Sources]</a:t>
            </a:r>
          </a:p>
          <a:p xmlns:a="http://schemas.openxmlformats.org/drawingml/2006/main">
            <a:r>
              <a:t>- docs/MANUAL.md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an invoice request with an image skips text-only models. A new model can be probed for tools before it is trusted in an agent workflow.</a:t>
            </a:r>
          </a:p>
          <a:p xmlns:a="http://schemas.openxmlformats.org/drawingml/2006/main">
            <a:r>
              <a:t/>
            </a:r>
          </a:p>
          <a:p xmlns:a="http://schemas.openxmlformats.org/drawingml/2006/main">
            <a:r>
              <a:t>[Sources]</a:t>
            </a:r>
          </a:p>
          <a:p xmlns:a="http://schemas.openxmlformats.org/drawingml/2006/main">
            <a:r>
              <a:t>- docs/MANUAL.md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when a routed request fails, direct tests isolate whether the cause is the provider key, exact model, local node, or routing policy. Temperature and token caps verify the real workload, not just hello world.</a:t>
            </a:r>
          </a:p>
          <a:p xmlns:a="http://schemas.openxmlformats.org/drawingml/2006/main">
            <a:r>
              <a:t/>
            </a:r>
          </a:p>
          <a:p xmlns:a="http://schemas.openxmlformats.org/drawingml/2006/main">
            <a:r>
              <a:t>[Sources]</a:t>
            </a:r>
          </a:p>
          <a:p xmlns:a="http://schemas.openxmlformats.org/drawingml/2006/main">
            <a:r>
              <a:t>- docs/MANUAL.md</a:t>
            </a:r>
          </a:p>
          <a:p xmlns:a="http://schemas.openxmlformats.org/drawingml/2006/main">
            <a:r>
              <a:t>- docs/CONNECT_LOCAL_LLM.md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a customer reports a slow request and provides req_… The timeline shows that six seconds were spent waiting for the first provider before fallback succeeded.</a:t>
            </a:r>
          </a:p>
          <a:p xmlns:a="http://schemas.openxmlformats.org/drawingml/2006/main">
            <a:r>
              <a:t/>
            </a:r>
          </a:p>
          <a:p xmlns:a="http://schemas.openxmlformats.org/drawingml/2006/main">
            <a:r>
              <a:t>[Sources]</a:t>
            </a:r>
          </a:p>
          <a:p xmlns:a="http://schemas.openxmlformats.org/drawingml/2006/main">
            <a:r>
              <a:t>- docs/MANUAL.md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a team can point an existing OpenAI SDK app and its coding assistants at one gateway instead of building separate provider integrations.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examples that match the audience. The strongest contrast is confidential local-only processing versus cloud-backed continuity when privacy policy allows fallback.</a:t>
            </a:r>
          </a:p>
          <a:p xmlns:a="http://schemas.openxmlformats.org/drawingml/2006/main">
            <a:r>
              <a:t/>
            </a:r>
          </a:p>
          <a:p xmlns:a="http://schemas.openxmlformats.org/drawingml/2006/main">
            <a:r>
              <a:t>[Sources]</a:t>
            </a:r>
          </a:p>
          <a:p xmlns:a="http://schemas.openxmlformats.org/drawingml/2006/main">
            <a:r>
              <a:t>- docs/MANUAL.md</a:t>
            </a:r>
          </a:p>
          <a:p xmlns:a="http://schemas.openxmlformats.org/drawingml/2006/main">
            <a:r>
              <a:t>- docs/CONNECT_LOCAL_LLM.md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sequence: local success; disconnect; prefer-local cloud fallback; local-only explicit failure; then inspect the recorded timeline. This is an audience-facing demo flow, not a performance benchmark.</a:t>
            </a:r>
          </a:p>
          <a:p xmlns:a="http://schemas.openxmlformats.org/drawingml/2006/main">
            <a:r>
              <a:t/>
            </a:r>
          </a:p>
          <a:p xmlns:a="http://schemas.openxmlformats.org/drawingml/2006/main">
            <a:r>
              <a:t>[Sources]</a:t>
            </a:r>
          </a:p>
          <a:p xmlns:a="http://schemas.openxmlformats.org/drawingml/2006/main">
            <a:r>
              <a:t>- docs/CONNECT_LOCAL_LLM.md</a:t>
            </a:r>
          </a:p>
          <a:p xmlns:a="http://schemas.openxmlformats.org/drawingml/2006/main">
            <a:r>
              <a:t>- docs/MANUAL.md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these boundaries confidently. They are safety and scope decisions: Ollama only in V1, a managed ngrok path, no remote model administration, and no mixing providers once a stream has started.</a:t>
            </a:r>
          </a:p>
          <a:p xmlns:a="http://schemas.openxmlformats.org/drawingml/2006/main">
            <a:r>
              <a:t/>
            </a:r>
          </a:p>
          <a:p xmlns:a="http://schemas.openxmlformats.org/drawingml/2006/main">
            <a:r>
              <a:t>[Sources]</a:t>
            </a:r>
          </a:p>
          <a:p xmlns:a="http://schemas.openxmlformats.org/drawingml/2006/main">
            <a:r>
              <a:t>- CONNECT_LOCAL_LLM_V1_ROADMAP.md</a:t>
            </a:r>
          </a:p>
          <a:p xmlns:a="http://schemas.openxmlformats.org/drawingml/2006/main">
            <a:r>
              <a:t>- docs/CONNECT_LOCAL_LLM.md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decision the product removes: teams no longer have to choose between local control and cloud resilience at integration time.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docs/CONNECT_LOCAL_LLM.md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item combines an MVP feature with the moment it becomes valuable.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docs/CONNECT_LOCAL_LLM.md</a:t>
            </a:r>
          </a:p>
          <a:p xmlns:a="http://schemas.openxmlformats.org/drawingml/2006/main">
            <a:r>
              <a:t>- CONNECT_LOCAL_LLM_V1_ROADMAP.md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features turn the router from a proxy into a policy and model-intelligence layer.</a:t>
            </a:r>
          </a:p>
          <a:p xmlns:a="http://schemas.openxmlformats.org/drawingml/2006/main">
            <a:r>
              <a:t/>
            </a:r>
          </a:p>
          <a:p xmlns:a="http://schemas.openxmlformats.org/drawingml/2006/main">
            <a:r>
              <a:t>[Sources]</a:t>
            </a:r>
          </a:p>
          <a:p xmlns:a="http://schemas.openxmlformats.org/drawingml/2006/main">
            <a:r>
              <a:t>- docs/MANUAL.md</a:t>
            </a:r>
          </a:p>
          <a:p xmlns:a="http://schemas.openxmlformats.org/drawingml/2006/main">
            <a:r>
              <a:t>- docs/CONNECT_LOCAL_LLM.md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benefit is controlled degradation: failures become bounded and diagnosable.</a:t>
            </a:r>
          </a:p>
          <a:p xmlns:a="http://schemas.openxmlformats.org/drawingml/2006/main">
            <a:r>
              <a:t/>
            </a:r>
          </a:p>
          <a:p xmlns:a="http://schemas.openxmlformats.org/drawingml/2006/main">
            <a:r>
              <a:t>[Sources]</a:t>
            </a:r>
          </a:p>
          <a:p xmlns:a="http://schemas.openxmlformats.org/drawingml/2006/main">
            <a:r>
              <a:t>- docs/MANUAL.md</a:t>
            </a:r>
          </a:p>
          <a:p xmlns:a="http://schemas.openxmlformats.org/drawingml/2006/main">
            <a:r>
              <a:t>- docs/CONNECT_LOCAL_LLM.md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operational capabilities make the MVP presentable as usable infrastructure rather than a routing experiment.</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docs/MANUAL.md</a:t>
            </a:r>
          </a:p>
          <a:p xmlns:a="http://schemas.openxmlformats.org/drawingml/2006/main">
            <a:r>
              <a:t>- docs/CONNECT_LOCAL_LLM.md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769798400b43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afbedcedc940d1" /><Relationship Type="http://schemas.openxmlformats.org/officeDocument/2006/relationships/slideLayout" Target="/ppt/slideLayouts/slideLayout1.xml" Id="Rb4bc90391f8540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bc90391f8540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5bed4f6ef04faa" /><Relationship Type="http://schemas.openxmlformats.org/officeDocument/2006/relationships/image" Target="/ppt/media/image.png" Id="Rb62f684bbe2141a6" /><Relationship Type="http://schemas.openxmlformats.org/officeDocument/2006/relationships/notesSlide" Target="/ppt/notesSlides/notesSlide1.xml" Id="Rcb709f09511044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3b2a7e0e654fee" /><Relationship Type="http://schemas.openxmlformats.org/officeDocument/2006/relationships/notesSlide" Target="/ppt/notesSlides/notesSlide2.xml" Id="Rc891b5d0d59243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f65cacd30943cb" /><Relationship Type="http://schemas.openxmlformats.org/officeDocument/2006/relationships/notesSlide" Target="/ppt/notesSlides/notesSlide3.xml" Id="R3e53c08f208249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ce733523ed4774" /><Relationship Type="http://schemas.openxmlformats.org/officeDocument/2006/relationships/notesSlide" Target="/ppt/notesSlides/notesSlide4.xml" Id="Rd09bb18f36f14a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a96e5327324e2b" /><Relationship Type="http://schemas.openxmlformats.org/officeDocument/2006/relationships/notesSlide" Target="/ppt/notesSlides/notesSlide5.xml" Id="Re87785a58cc140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7cd1b4cdeb497a" /><Relationship Type="http://schemas.openxmlformats.org/officeDocument/2006/relationships/notesSlide" Target="/ppt/notesSlides/notesSlide6.xml" Id="R0304930364ce4f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ce94fd04b34aed" /><Relationship Type="http://schemas.openxmlformats.org/officeDocument/2006/relationships/notesSlide" Target="/ppt/notesSlides/notesSlide7.xml" Id="R18c586ffb18141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b3cd05a97348f1" /><Relationship Type="http://schemas.openxmlformats.org/officeDocument/2006/relationships/notesSlide" Target="/ppt/notesSlides/notesSlide8.xml" Id="Rc0d3c804cbd344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35977c1c304bf7" /><Relationship Type="http://schemas.openxmlformats.org/officeDocument/2006/relationships/notesSlide" Target="/ppt/notesSlides/notesSlide9.xml" Id="Rb1589994c0fd4a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bad51c34164c6e" /><Relationship Type="http://schemas.openxmlformats.org/officeDocument/2006/relationships/notesSlide" Target="/ppt/notesSlides/notesSlide10.xml" Id="R905e367ac24943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116cdf9cadc4189" /><Relationship Type="http://schemas.openxmlformats.org/officeDocument/2006/relationships/notesSlide" Target="/ppt/notesSlides/notesSlide11.xml" Id="Re627ff4e8c3e4f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49f007f606448c" /><Relationship Type="http://schemas.openxmlformats.org/officeDocument/2006/relationships/notesSlide" Target="/ppt/notesSlides/notesSlide12.xml" Id="R0f2a4ee4c4d840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38e09288b4b4f07" /><Relationship Type="http://schemas.openxmlformats.org/officeDocument/2006/relationships/notesSlide" Target="/ppt/notesSlides/notesSlide13.xml" Id="R3c34097a184442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1e98246c4994a9f" /><Relationship Type="http://schemas.openxmlformats.org/officeDocument/2006/relationships/notesSlide" Target="/ppt/notesSlides/notesSlide14.xml" Id="Rccdc31ad260640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4d40365416048d0" /><Relationship Type="http://schemas.openxmlformats.org/officeDocument/2006/relationships/notesSlide" Target="/ppt/notesSlides/notesSlide15.xml" Id="R8b53b9e5b2124c7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05fa40201847de" /><Relationship Type="http://schemas.openxmlformats.org/officeDocument/2006/relationships/notesSlide" Target="/ppt/notesSlides/notesSlide16.xml" Id="R3f030ec623184e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7f6b3bef52644ef" /><Relationship Type="http://schemas.openxmlformats.org/officeDocument/2006/relationships/notesSlide" Target="/ppt/notesSlides/notesSlide17.xml" Id="Rf5847ef72f8141a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3054f64170f414e" /><Relationship Type="http://schemas.openxmlformats.org/officeDocument/2006/relationships/notesSlide" Target="/ppt/notesSlides/notesSlide18.xml" Id="Racdf4388bf704e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35a8d2a9f0d49b3" /><Relationship Type="http://schemas.openxmlformats.org/officeDocument/2006/relationships/notesSlide" Target="/ppt/notesSlides/notesSlide19.xml" Id="R88e644accedb410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903357C6-8050-463C-96CB-D983959572E2}"/>
              </a:ext>
            </a:extLst>
          </p:cNvPr>
          <p:cNvSpPr>
            <a:spLocks xmlns:a="http://schemas.openxmlformats.org/drawingml/2006/main" noGrp="1"/>
          </p:cNvSpPr>
          <p:nvPr/>
        </p:nvSpPr>
        <p:spPr>
          <a:xfrm xmlns:a="http://schemas.openxmlformats.org/drawingml/2006/main">
            <a:off x="393668" y="2579942"/>
            <a:ext cx="9448800" cy="362426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8000"/>
              </a:lnSpc>
              <a:buNone/>
              <a:defRPr sz="6000">
                <a:solidFill>
                  <a:srgbClr val="000000"/>
                </a:solidFill>
                <a:latin typeface="Helvetica Neue"/>
                <a:ea typeface="Helvetica Neue"/>
                <a:cs typeface="Helvetica Neue"/>
              </a:defRPr>
            </a:pPr>
            <a:r>
              <a:rPr sz="5100" b="1">
                <a:solidFill>
                  <a:srgbClr val="111A17"/>
                </a:solidFill>
                <a:latin typeface="Helvetica Neue"/>
                <a:ea typeface="Helvetica Neue"/>
                <a:cs typeface="Helvetica Neue"/>
              </a:rPr>
              <a:t>Free LLM Router
Cloud reliability. Local privacy.</a:t>
            </a:r>
          </a:p>
        </p:txBody>
      </p:sp>
      <p:sp>
        <p:nvSpPr>
          <p:cNvPr id="2" name="Subtitle-4-2">
            <a:extLst xmlns:a="http://schemas.openxmlformats.org/drawingml/2006/main">
              <a:ext uri="{FF2B5EF4-FFF2-40B4-BE49-F238E27FC236}">
                <a16:creationId xmlns:a16="http://schemas.microsoft.com/office/drawing/2014/main" id="{D6166047-A27C-49A5-AB36-734F89091958}"/>
              </a:ext>
            </a:extLst>
          </p:cNvPr>
          <p:cNvSpPr>
            <a:spLocks xmlns:a="http://schemas.openxmlformats.org/drawingml/2006/main" noGrp="1"/>
          </p:cNvSpPr>
          <p:nvPr/>
        </p:nvSpPr>
        <p:spPr>
          <a:xfrm xmlns:a="http://schemas.openxmlformats.org/drawingml/2006/main">
            <a:off x="393668" y="392240"/>
            <a:ext cx="6157817"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800" b="1">
                <a:solidFill>
                  <a:srgbClr val="0F6B52"/>
                </a:solidFill>
                <a:latin typeface="Helvetica Neue"/>
                <a:ea typeface="Helvetica Neue"/>
                <a:cs typeface="Helvetica Neue"/>
              </a:rPr>
              <a:t>MVP PRESENTATION</a:t>
            </a:r>
          </a:p>
        </p:txBody>
      </p:sp>
      <p:sp>
        <p:nvSpPr>
          <p:cNvPr id="3" name="Subtitle-4-3">
            <a:extLst xmlns:a="http://schemas.openxmlformats.org/drawingml/2006/main">
              <a:ext uri="{FF2B5EF4-FFF2-40B4-BE49-F238E27FC236}">
                <a16:creationId xmlns:a16="http://schemas.microsoft.com/office/drawing/2014/main" id="{9D00D39E-C633-477A-9A56-05EA5CB3396E}"/>
              </a:ext>
            </a:extLst>
          </p:cNvPr>
          <p:cNvSpPr>
            <a:spLocks xmlns:a="http://schemas.openxmlformats.org/drawingml/2006/main" noGrp="1"/>
          </p:cNvSpPr>
          <p:nvPr/>
        </p:nvSpPr>
        <p:spPr>
          <a:xfrm xmlns:a="http://schemas.openxmlformats.org/drawingml/2006/main">
            <a:off x="7886700" y="392240"/>
            <a:ext cx="39116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00" b="1">
                <a:solidFill>
                  <a:srgbClr val="53615C"/>
                </a:solidFill>
                <a:latin typeface="Helvetica Neue"/>
                <a:ea typeface="Helvetica Neue"/>
                <a:cs typeface="Helvetica Neue"/>
              </a:rPr>
              <a:t>SELF-HOSTED AI GATEWAY</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62f684bbe2141a6"/>
          <a:stretch xmlns:a="http://schemas.openxmlformats.org/drawingml/2006/main"/>
        </p:blipFill>
        <p:spPr>
          <a:xfrm xmlns:a="http://schemas.openxmlformats.org/drawingml/2006/main">
            <a:off x="10287000" y="266700"/>
            <a:ext cx="1428750" cy="1428750"/>
          </a:xfrm>
          <a:prstGeom xmlns:a="http://schemas.openxmlformats.org/drawingml/2006/main" prst="rect">
            <a:avLst/>
          </a:prstGeom>
        </p:spPr>
      </p:pic>
    </p:spTree>
    <p:extLst>
      <p:ext uri="{BB962C8B-B14F-4D97-AF65-F5344CB8AC3E}">
        <p14:creationId xmlns:p14="http://schemas.microsoft.com/office/powerpoint/2010/main" val="10050152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F5D8359C-AEB4-4511-820B-C644704229F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7472EDCB-13B4-426A-9118-25AE1690C33C}"/>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AI integration becomes fragile when every provider is a separate decision</a:t>
            </a:r>
          </a:p>
        </p:txBody>
      </p:sp>
      <p:sp>
        <p:nvSpPr>
          <p:cNvPr id="3" name="Rounded-Rectangle-1-4">
            <a:extLst xmlns:a="http://schemas.openxmlformats.org/drawingml/2006/main">
              <a:ext uri="{FF2B5EF4-FFF2-40B4-BE49-F238E27FC236}">
                <a16:creationId xmlns:a16="http://schemas.microsoft.com/office/drawing/2014/main" id="{9A245B30-D5E8-4CF8-B9EA-9EE6E71BCFB8}"/>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DC9C70B9-1678-4B25-BBEA-156836F353B7}"/>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2025" b="1">
                <a:solidFill>
                  <a:srgbClr val="111A17"/>
                </a:solidFill>
                <a:latin typeface="Helvetica Neue"/>
                <a:ea typeface="Helvetica Neue"/>
                <a:cs typeface="Helvetica Neue"/>
              </a:rPr>
              <a:t>Without a router</a:t>
            </a:r>
          </a:p>
        </p:txBody>
      </p:sp>
      <p:sp>
        <p:nvSpPr>
          <p:cNvPr id="5" name="Content-Placeholder-15-6">
            <a:extLst xmlns:a="http://schemas.openxmlformats.org/drawingml/2006/main">
              <a:ext uri="{FF2B5EF4-FFF2-40B4-BE49-F238E27FC236}">
                <a16:creationId xmlns:a16="http://schemas.microsoft.com/office/drawing/2014/main" id="{30E5791E-81C3-425A-BEA4-92D0DF0D8586}"/>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marL="2540" indent="0" algn="l">
              <a:lnSpc>
                <a:spcPct val="108000"/>
              </a:lnSpc>
              <a:spcAft>
                <a:spcPts val="250"/>
              </a:spcAft>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One provider outage breaks the flow</a:t>
            </a:r>
          </a:p>
          <a:p xmlns:a="http://schemas.openxmlformats.org/drawingml/2006/main">
            <a:pPr marL="2540" indent="0" algn="l">
              <a:lnSpc>
                <a:spcPct val="108000"/>
              </a:lnSpc>
              <a:spcAft>
                <a:spcPts val="250"/>
              </a:spcAft>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Local models require separate code</a:t>
            </a:r>
          </a:p>
          <a:p xmlns:a="http://schemas.openxmlformats.org/drawingml/2006/main">
            <a:pPr marL="2540" indent="0"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Debugging stops at an error message</a:t>
            </a:r>
          </a:p>
        </p:txBody>
      </p:sp>
      <p:sp>
        <p:nvSpPr>
          <p:cNvPr id="6" name="Rounded-Rectangle-7-7">
            <a:extLst xmlns:a="http://schemas.openxmlformats.org/drawingml/2006/main">
              <a:ext uri="{FF2B5EF4-FFF2-40B4-BE49-F238E27FC236}">
                <a16:creationId xmlns:a16="http://schemas.microsoft.com/office/drawing/2014/main" id="{29EA42DB-23EC-4BB6-899E-B390BC48EFE3}"/>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E2E51611-F68F-43CE-995E-74AD0CD6C322}"/>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2025" b="1">
                <a:solidFill>
                  <a:srgbClr val="0F6B52"/>
                </a:solidFill>
                <a:latin typeface="Helvetica Neue"/>
                <a:ea typeface="Helvetica Neue"/>
                <a:cs typeface="Helvetica Neue"/>
              </a:rPr>
              <a:t>With Free LLM Router</a:t>
            </a:r>
          </a:p>
        </p:txBody>
      </p:sp>
      <p:sp>
        <p:nvSpPr>
          <p:cNvPr id="8" name="Content-Placeholder-15-9">
            <a:extLst xmlns:a="http://schemas.openxmlformats.org/drawingml/2006/main">
              <a:ext uri="{FF2B5EF4-FFF2-40B4-BE49-F238E27FC236}">
                <a16:creationId xmlns:a16="http://schemas.microsoft.com/office/drawing/2014/main" id="{EB134B4D-7C18-443F-874D-C302E796589C}"/>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marL="2540" indent="0" algn="l">
              <a:lnSpc>
                <a:spcPct val="108000"/>
              </a:lnSpc>
              <a:spcAft>
                <a:spcPts val="250"/>
              </a:spcAft>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One stable API for every model</a:t>
            </a:r>
          </a:p>
          <a:p xmlns:a="http://schemas.openxmlformats.org/drawingml/2006/main">
            <a:pPr marL="2540" indent="0" algn="l">
              <a:lnSpc>
                <a:spcPct val="108000"/>
              </a:lnSpc>
              <a:spcAft>
                <a:spcPts val="250"/>
              </a:spcAft>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Cloud and Ollama share one policy</a:t>
            </a:r>
          </a:p>
          <a:p xmlns:a="http://schemas.openxmlformats.org/drawingml/2006/main">
            <a:pPr marL="2540" indent="0"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Every routing decision is traceable</a:t>
            </a:r>
          </a:p>
        </p:txBody>
      </p:sp>
      <p:sp>
        <p:nvSpPr>
          <p:cNvPr id="9" name="Content-Placeholder-15-10">
            <a:extLst xmlns:a="http://schemas.openxmlformats.org/drawingml/2006/main">
              <a:ext uri="{FF2B5EF4-FFF2-40B4-BE49-F238E27FC236}">
                <a16:creationId xmlns:a16="http://schemas.microsoft.com/office/drawing/2014/main" id="{E6A37954-7C9B-41A2-A6E6-D2193DC8497E}"/>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500"/>
              </a:spcAft>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THE PROBLEM</a:t>
            </a:r>
          </a:p>
          <a:p xmlns:a="http://schemas.openxmlformats.org/drawingml/2006/main">
            <a:pPr algn="l">
              <a:lnSpc>
                <a:spcPct val="108000"/>
              </a:lnSpc>
              <a:spcAft>
                <a:spcPts val="400"/>
              </a:spcAft>
              <a:buNone/>
              <a:defRPr sz="1600">
                <a:solidFill>
                  <a:srgbClr val="000000"/>
                </a:solidFill>
                <a:latin typeface="Helvetica Neue"/>
                <a:ea typeface="Helvetica Neue"/>
                <a:cs typeface="Helvetica Neue"/>
              </a:defRPr>
            </a:pPr>
            <a:r>
              <a:rPr sz="1425" b="0">
                <a:solidFill>
                  <a:srgbClr val="111A17"/>
                </a:solidFill>
                <a:latin typeface="Helvetica Neue"/>
                <a:ea typeface="Helvetica Neue"/>
                <a:cs typeface="Helvetica Neue"/>
              </a:rPr>
              <a:t>Provider-specific SDKs, changing model names, rate limits, outages, and private workloads all leak into application code.</a:t>
            </a:r>
          </a:p>
          <a:p xmlns:a="http://schemas.openxmlformats.org/drawingml/2006/main">
            <a:pPr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The result is duplicated integration work and failures that are difficult to explain.</a:t>
            </a:r>
          </a:p>
        </p:txBody>
      </p:sp>
    </p:spTree>
    <p:extLst>
      <p:ext uri="{BB962C8B-B14F-4D97-AF65-F5344CB8AC3E}">
        <p14:creationId xmlns:p14="http://schemas.microsoft.com/office/powerpoint/2010/main" val="145014378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B321A3C9-982B-4463-8DBC-D152669C7604}"/>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CD3E15AB-F7F9-452E-9FC5-2837FBAF70CB}"/>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89E40039-D30A-4CFF-9BEF-E5B228D010D2}"/>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01BB7D12-636C-4961-8A60-0ADDD568959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5" name="Title-2-5">
            <a:extLst xmlns:a="http://schemas.openxmlformats.org/drawingml/2006/main">
              <a:ext uri="{FF2B5EF4-FFF2-40B4-BE49-F238E27FC236}">
                <a16:creationId xmlns:a16="http://schemas.microsoft.com/office/drawing/2014/main" id="{128E1ED5-DA91-4650-92C0-2FE23630BA6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One endpoint replaces a stack of model-specific integrations</a:t>
            </a:r>
          </a:p>
        </p:txBody>
      </p:sp>
      <p:sp>
        <p:nvSpPr>
          <p:cNvPr id="6" name="Content-Placeholder-9-6">
            <a:extLst xmlns:a="http://schemas.openxmlformats.org/drawingml/2006/main">
              <a:ext uri="{FF2B5EF4-FFF2-40B4-BE49-F238E27FC236}">
                <a16:creationId xmlns:a16="http://schemas.microsoft.com/office/drawing/2014/main" id="{3EFDDDAB-70B7-4A18-8A0C-B40C4419DBF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75" b="1">
                <a:solidFill>
                  <a:srgbClr val="111A17"/>
                </a:solidFill>
                <a:latin typeface="Helvetica Neue"/>
                <a:ea typeface="Helvetica Neue"/>
                <a:cs typeface="Helvetica Neue"/>
              </a:rPr>
              <a:t>stable gateway endpoint</a:t>
            </a:r>
          </a:p>
        </p:txBody>
      </p:sp>
      <p:sp>
        <p:nvSpPr>
          <p:cNvPr id="7" name="Content-Placeholder-10-7">
            <a:extLst xmlns:a="http://schemas.openxmlformats.org/drawingml/2006/main">
              <a:ext uri="{FF2B5EF4-FFF2-40B4-BE49-F238E27FC236}">
                <a16:creationId xmlns:a16="http://schemas.microsoft.com/office/drawing/2014/main" id="{1062A0DB-A4A7-4546-8B49-A6B318A38420}"/>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00" b="1">
                <a:solidFill>
                  <a:srgbClr val="111A17"/>
                </a:solidFill>
                <a:latin typeface="Helvetica Neue"/>
                <a:ea typeface="Helvetica Neue"/>
                <a:cs typeface="Helvetica Neue"/>
              </a:rPr>
              <a:t>provider classes: cloud + local</a:t>
            </a:r>
          </a:p>
        </p:txBody>
      </p:sp>
      <p:sp>
        <p:nvSpPr>
          <p:cNvPr id="8" name="Content-Placeholder-11-8">
            <a:extLst xmlns:a="http://schemas.openxmlformats.org/drawingml/2006/main">
              <a:ext uri="{FF2B5EF4-FFF2-40B4-BE49-F238E27FC236}">
                <a16:creationId xmlns:a16="http://schemas.microsoft.com/office/drawing/2014/main" id="{51C42318-3BED-44DD-8ECD-B0065E7B5B15}"/>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425" b="1">
                <a:solidFill>
                  <a:srgbClr val="111A17"/>
                </a:solidFill>
                <a:latin typeface="Helvetica Neue"/>
                <a:ea typeface="Helvetica Neue"/>
                <a:cs typeface="Helvetica Neue"/>
              </a:rPr>
              <a:t>API formats: Chat, Responses, Messages</a:t>
            </a:r>
          </a:p>
        </p:txBody>
      </p:sp>
      <p:sp>
        <p:nvSpPr>
          <p:cNvPr id="9" name="Content-Placeholder-9-9">
            <a:extLst xmlns:a="http://schemas.openxmlformats.org/drawingml/2006/main">
              <a:ext uri="{FF2B5EF4-FFF2-40B4-BE49-F238E27FC236}">
                <a16:creationId xmlns:a16="http://schemas.microsoft.com/office/drawing/2014/main" id="{B6969A1C-3821-455D-96FC-81474BA992AE}"/>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4350" b="1">
                <a:solidFill>
                  <a:srgbClr val="0F6B52"/>
                </a:solidFill>
                <a:latin typeface="Helvetica Neue"/>
                <a:ea typeface="Helvetica Neue"/>
                <a:cs typeface="Helvetica Neue"/>
              </a:rPr>
              <a:t>1</a:t>
            </a:r>
          </a:p>
        </p:txBody>
      </p:sp>
      <p:sp>
        <p:nvSpPr>
          <p:cNvPr id="10" name="Content-Placeholder-9-10">
            <a:extLst xmlns:a="http://schemas.openxmlformats.org/drawingml/2006/main">
              <a:ext uri="{FF2B5EF4-FFF2-40B4-BE49-F238E27FC236}">
                <a16:creationId xmlns:a16="http://schemas.microsoft.com/office/drawing/2014/main" id="{F16FAA49-801B-4F60-8B66-8E62E09C09FB}"/>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4350" b="1">
                <a:solidFill>
                  <a:srgbClr val="0F6B52"/>
                </a:solidFill>
                <a:latin typeface="Helvetica Neue"/>
                <a:ea typeface="Helvetica Neue"/>
                <a:cs typeface="Helvetica Neue"/>
              </a:rPr>
              <a:t>3</a:t>
            </a:r>
          </a:p>
        </p:txBody>
      </p:sp>
      <p:sp>
        <p:nvSpPr>
          <p:cNvPr id="11" name="Content-Placeholder-9-11">
            <a:extLst xmlns:a="http://schemas.openxmlformats.org/drawingml/2006/main">
              <a:ext uri="{FF2B5EF4-FFF2-40B4-BE49-F238E27FC236}">
                <a16:creationId xmlns:a16="http://schemas.microsoft.com/office/drawing/2014/main" id="{9AA350F4-5B9F-4841-9E0B-1E63FC311A6B}"/>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4350" b="1">
                <a:solidFill>
                  <a:srgbClr val="0F6B52"/>
                </a:solidFill>
                <a:latin typeface="Helvetica Neue"/>
                <a:ea typeface="Helvetica Neue"/>
                <a:cs typeface="Helvetica Neue"/>
              </a:rPr>
              <a:t>2</a:t>
            </a:r>
          </a:p>
        </p:txBody>
      </p:sp>
      <p:sp>
        <p:nvSpPr>
          <p:cNvPr id="12" name="Content-Placeholder-15-12">
            <a:extLst xmlns:a="http://schemas.openxmlformats.org/drawingml/2006/main">
              <a:ext uri="{FF2B5EF4-FFF2-40B4-BE49-F238E27FC236}">
                <a16:creationId xmlns:a16="http://schemas.microsoft.com/office/drawing/2014/main" id="{E3CD255B-86E0-4F3D-A9E7-1E7DFC0E2181}"/>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500"/>
              </a:spcAft>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THE MVP</a:t>
            </a:r>
          </a:p>
          <a:p xmlns:a="http://schemas.openxmlformats.org/drawingml/2006/main">
            <a:pPr algn="l">
              <a:lnSpc>
                <a:spcPct val="108000"/>
              </a:lnSpc>
              <a:buNone/>
              <a:defRPr sz="1600">
                <a:solidFill>
                  <a:srgbClr val="000000"/>
                </a:solidFill>
                <a:latin typeface="Helvetica Neue"/>
                <a:ea typeface="Helvetica Neue"/>
                <a:cs typeface="Helvetica Neue"/>
              </a:defRPr>
            </a:pPr>
            <a:r>
              <a:rPr sz="1425" b="0">
                <a:solidFill>
                  <a:srgbClr val="111A17"/>
                </a:solidFill>
                <a:latin typeface="Helvetica Neue"/>
                <a:ea typeface="Helvetica Neue"/>
                <a:cs typeface="Helvetica Neue"/>
              </a:rPr>
              <a:t>Bring cloud provider keys and a private Ollama machine into the same self-hosted gateway. Routing, reliability, testing, and observability live in one control plane.</a:t>
            </a:r>
          </a:p>
        </p:txBody>
      </p:sp>
    </p:spTree>
    <p:extLst>
      <p:ext uri="{BB962C8B-B14F-4D97-AF65-F5344CB8AC3E}">
        <p14:creationId xmlns:p14="http://schemas.microsoft.com/office/powerpoint/2010/main" val="195344337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531BF49A-0C07-4849-996F-4927BC75591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Title-10-3">
            <a:extLst xmlns:a="http://schemas.openxmlformats.org/drawingml/2006/main">
              <a:ext uri="{FF2B5EF4-FFF2-40B4-BE49-F238E27FC236}">
                <a16:creationId xmlns:a16="http://schemas.microsoft.com/office/drawing/2014/main" id="{0DEF985A-926B-4E39-BDDD-B12FFEDD13B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Every request follows one explainable path</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BC7415DA-A7DE-4303-A7E3-3C4AD9A71404}"/>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441067AB-E0BA-4709-88E7-7924B926FD5B}"/>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17EB0196-989B-4EE4-ABC3-B35977F839EB}"/>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9B96893A-D709-4A27-8EAD-A18943A49428}"/>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REQUEST</a:t>
            </a:r>
          </a:p>
        </p:txBody>
      </p:sp>
      <p:sp>
        <p:nvSpPr>
          <p:cNvPr id="8" name="Content-Placeholder-15-9">
            <a:extLst xmlns:a="http://schemas.openxmlformats.org/drawingml/2006/main">
              <a:ext uri="{FF2B5EF4-FFF2-40B4-BE49-F238E27FC236}">
                <a16:creationId xmlns:a16="http://schemas.microsoft.com/office/drawing/2014/main" id="{D12ED4AF-2BDE-465A-998F-ED9D8D25BBEA}"/>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DECIDE</a:t>
            </a:r>
          </a:p>
        </p:txBody>
      </p:sp>
      <p:sp>
        <p:nvSpPr>
          <p:cNvPr id="9" name="Content-Placeholder-15-10">
            <a:extLst xmlns:a="http://schemas.openxmlformats.org/drawingml/2006/main">
              <a:ext uri="{FF2B5EF4-FFF2-40B4-BE49-F238E27FC236}">
                <a16:creationId xmlns:a16="http://schemas.microsoft.com/office/drawing/2014/main" id="{2753A09A-201C-439B-B1FC-29E5675AA9CF}"/>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RESPOND</a:t>
            </a:r>
          </a:p>
        </p:txBody>
      </p:sp>
      <p:sp>
        <p:nvSpPr>
          <p:cNvPr id="10" name="Text-Placeholder-16-11">
            <a:extLst xmlns:a="http://schemas.openxmlformats.org/drawingml/2006/main">
              <a:ext uri="{FF2B5EF4-FFF2-40B4-BE49-F238E27FC236}">
                <a16:creationId xmlns:a16="http://schemas.microsoft.com/office/drawing/2014/main" id="{1355D831-C42A-4ABD-9586-B47905F089A3}"/>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Router filters and ranks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Capabilities, health, quota, cooldowns, policy, and local preference determine eligibility.</a:t>
            </a:r>
          </a:p>
        </p:txBody>
      </p:sp>
      <p:sp>
        <p:nvSpPr>
          <p:cNvPr id="11" name="Text-Placeholder-16-12">
            <a:extLst xmlns:a="http://schemas.openxmlformats.org/drawingml/2006/main">
              <a:ext uri="{FF2B5EF4-FFF2-40B4-BE49-F238E27FC236}">
                <a16:creationId xmlns:a16="http://schemas.microsoft.com/office/drawing/2014/main" id="{F61658F2-7052-4BBF-91D5-F3C244307C34}"/>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Application calls one API</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The client sends a virtual model alias through an OpenAI- or Anthropic-compatible endpoint.</a:t>
            </a:r>
          </a:p>
        </p:txBody>
      </p:sp>
      <p:sp>
        <p:nvSpPr>
          <p:cNvPr id="12" name="Text-Placeholder-16-13">
            <a:extLst xmlns:a="http://schemas.openxmlformats.org/drawingml/2006/main">
              <a:ext uri="{FF2B5EF4-FFF2-40B4-BE49-F238E27FC236}">
                <a16:creationId xmlns:a16="http://schemas.microsoft.com/office/drawing/2014/main" id="{7A17F60F-790C-44AA-AFE8-7FB33DF8756D}"/>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Local or cloud model answers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The selected model streams or returns output while the router records the complete decision.</a:t>
            </a:r>
          </a:p>
        </p:txBody>
      </p:sp>
    </p:spTree>
    <p:extLst>
      <p:ext uri="{BB962C8B-B14F-4D97-AF65-F5344CB8AC3E}">
        <p14:creationId xmlns:p14="http://schemas.microsoft.com/office/powerpoint/2010/main" val="51415692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940226E6-9050-42BC-B62A-33B62D89AF3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Title-10-3">
            <a:extLst xmlns:a="http://schemas.openxmlformats.org/drawingml/2006/main">
              <a:ext uri="{FF2B5EF4-FFF2-40B4-BE49-F238E27FC236}">
                <a16:creationId xmlns:a16="http://schemas.microsoft.com/office/drawing/2014/main" id="{1B32C588-4E64-4B53-ACA5-0A1390E95DE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A private Ollama node connects in three guarded steps</a:t>
            </a:r>
          </a:p>
        </p:txBody>
      </p:sp>
      <p:cxnSp>
        <p:nvCxnSpPr>
          <p:cNvPr id="18"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77A1CC7D-897E-43A2-93D2-1F0326F91C2B}"/>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088113E8-7819-4176-A47E-E90CC9820890}"/>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1E0D20CA-E23C-44BB-97B7-ACBD2BCB6083}"/>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ACEEFDA9-09AA-482E-B77D-FC7ABACC5458}"/>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4CE6DFD0-0ACF-490A-B1B8-0DBB34DA43CC}"/>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Pair</a:t>
            </a:r>
          </a:p>
          <a:p xmlns:a="http://schemas.openxmlformats.org/drawingml/2006/main">
            <a:pPr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A one-time dashboard code becomes a CLI command. Ollama and installed models are detected automatically.</a:t>
            </a:r>
          </a:p>
        </p:txBody>
      </p:sp>
      <p:sp>
        <p:nvSpPr>
          <p:cNvPr id="9" name="Rounded-Rectangle-21-10">
            <a:extLst xmlns:a="http://schemas.openxmlformats.org/drawingml/2006/main">
              <a:ext uri="{FF2B5EF4-FFF2-40B4-BE49-F238E27FC236}">
                <a16:creationId xmlns:a16="http://schemas.microsoft.com/office/drawing/2014/main" id="{D3D9BB4B-342A-4E8A-8BC9-C567CA55B567}"/>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E45E3D48-FB6A-4730-B3DF-7E85F2C73363}"/>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Protect</a:t>
            </a:r>
          </a:p>
          <a:p xmlns:a="http://schemas.openxmlformats.org/drawingml/2006/main">
            <a:pPr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A loopback-only agent exposes approved inference and health operations—not raw Ollama administration.</a:t>
            </a:r>
          </a:p>
        </p:txBody>
      </p:sp>
      <p:sp>
        <p:nvSpPr>
          <p:cNvPr id="11" name="Rounded-Rectangle-23-12">
            <a:extLst xmlns:a="http://schemas.openxmlformats.org/drawingml/2006/main">
              <a:ext uri="{FF2B5EF4-FFF2-40B4-BE49-F238E27FC236}">
                <a16:creationId xmlns:a16="http://schemas.microsoft.com/office/drawing/2014/main" id="{2C38EE95-9FBA-4C45-9BC2-990782887E04}"/>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D52D829F-746C-40BE-9111-3F5B50EC825A}"/>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Operate</a:t>
            </a:r>
          </a:p>
          <a:p xmlns:a="http://schemas.openxmlformats.org/drawingml/2006/main">
            <a:pPr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Heartbeats, allowlists, limits, revoke, disconnect, and permanent deletion remain under the owner's control.</a:t>
            </a:r>
          </a:p>
        </p:txBody>
      </p:sp>
      <p:sp>
        <p:nvSpPr>
          <p:cNvPr id="13" name="Text-Placeholder-16-14">
            <a:extLst xmlns:a="http://schemas.openxmlformats.org/drawingml/2006/main">
              <a:ext uri="{FF2B5EF4-FFF2-40B4-BE49-F238E27FC236}">
                <a16:creationId xmlns:a16="http://schemas.microsoft.com/office/drawing/2014/main" id="{C654C016-1A4F-4609-B067-058FE61130B6}"/>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LOOPBACK ONLY</a:t>
            </a:r>
          </a:p>
        </p:txBody>
      </p:sp>
      <p:sp>
        <p:nvSpPr>
          <p:cNvPr id="14" name="Text-Placeholder-16-15">
            <a:extLst xmlns:a="http://schemas.openxmlformats.org/drawingml/2006/main">
              <a:ext uri="{FF2B5EF4-FFF2-40B4-BE49-F238E27FC236}">
                <a16:creationId xmlns:a16="http://schemas.microsoft.com/office/drawing/2014/main" id="{0AD31225-5EF2-43BD-B1D6-F730E760451A}"/>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ONE COMMAND</a:t>
            </a:r>
          </a:p>
        </p:txBody>
      </p:sp>
      <p:sp>
        <p:nvSpPr>
          <p:cNvPr id="15" name="Text-Placeholder-16-16">
            <a:extLst xmlns:a="http://schemas.openxmlformats.org/drawingml/2006/main">
              <a:ext uri="{FF2B5EF4-FFF2-40B4-BE49-F238E27FC236}">
                <a16:creationId xmlns:a16="http://schemas.microsoft.com/office/drawing/2014/main" id="{937B7BED-316F-41D6-9AB3-1E8432173609}"/>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LIVE CONTROL</a:t>
            </a:r>
          </a:p>
        </p:txBody>
      </p:sp>
    </p:spTree>
    <p:extLst>
      <p:ext uri="{BB962C8B-B14F-4D97-AF65-F5344CB8AC3E}">
        <p14:creationId xmlns:p14="http://schemas.microsoft.com/office/powerpoint/2010/main" val="16085021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01017D4C-4EE1-471F-AED0-8F8103AFF56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Title-10-3">
            <a:extLst xmlns:a="http://schemas.openxmlformats.org/drawingml/2006/main">
              <a:ext uri="{FF2B5EF4-FFF2-40B4-BE49-F238E27FC236}">
                <a16:creationId xmlns:a16="http://schemas.microsoft.com/office/drawing/2014/main" id="{F4C77973-1613-4F18-A2E3-E5A213AD04F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Local routing makes privacy a policy choice</a:t>
            </a:r>
          </a:p>
        </p:txBody>
      </p:sp>
      <p:cxnSp>
        <p:nvCxnSpPr>
          <p:cNvPr id="18"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706ADE7E-C79C-4F7E-84AE-AFA3EEC7C51F}"/>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4CE0E9FA-1240-441C-9422-2B467A9B5231}"/>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010E99B5-8B2F-4DB6-A8A8-2FF89FECCBFA}"/>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6D837AC3-40B2-4787-AC73-9CBEE8790942}"/>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966DFC0C-AE7F-4D68-8C9E-1137D513AD53}"/>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Normal order</a:t>
            </a:r>
          </a:p>
          <a:p xmlns:a="http://schemas.openxmlformats.org/drawingml/2006/main">
            <a:pPr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Local models participate beside cloud providers in the configured order.</a:t>
            </a:r>
          </a:p>
        </p:txBody>
      </p:sp>
      <p:sp>
        <p:nvSpPr>
          <p:cNvPr id="9" name="Rounded-Rectangle-21-10">
            <a:extLst xmlns:a="http://schemas.openxmlformats.org/drawingml/2006/main">
              <a:ext uri="{FF2B5EF4-FFF2-40B4-BE49-F238E27FC236}">
                <a16:creationId xmlns:a16="http://schemas.microsoft.com/office/drawing/2014/main" id="{CAED1EBB-4C7D-4FB5-9071-2711764EB1CA}"/>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6F9BAF07-5078-4A16-BCA3-B0B4E7E3A688}"/>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Prefer local</a:t>
            </a:r>
          </a:p>
          <a:p xmlns:a="http://schemas.openxmlformats.org/drawingml/2006/main">
            <a:pPr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Healthy compatible Ollama models run first; cloud remains available before output begins.</a:t>
            </a:r>
          </a:p>
        </p:txBody>
      </p:sp>
      <p:sp>
        <p:nvSpPr>
          <p:cNvPr id="11" name="Rounded-Rectangle-23-12">
            <a:extLst xmlns:a="http://schemas.openxmlformats.org/drawingml/2006/main">
              <a:ext uri="{FF2B5EF4-FFF2-40B4-BE49-F238E27FC236}">
                <a16:creationId xmlns:a16="http://schemas.microsoft.com/office/drawing/2014/main" id="{B30C017D-5003-4844-9549-AE758711E379}"/>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A1047CC9-AA34-4A7B-92F5-9B9C3E510C94}"/>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Local only</a:t>
            </a:r>
          </a:p>
          <a:p xmlns:a="http://schemas.openxmlformats.org/drawingml/2006/main">
            <a:pPr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Cloud providers are excluded. If no eligible local model is online, the request fails clearly.</a:t>
            </a:r>
          </a:p>
        </p:txBody>
      </p:sp>
      <p:sp>
        <p:nvSpPr>
          <p:cNvPr id="13" name="Text-Placeholder-16-14">
            <a:extLst xmlns:a="http://schemas.openxmlformats.org/drawingml/2006/main">
              <a:ext uri="{FF2B5EF4-FFF2-40B4-BE49-F238E27FC236}">
                <a16:creationId xmlns:a16="http://schemas.microsoft.com/office/drawing/2014/main" id="{42592C8D-A3D0-4C9F-AAF7-BD57D32F567D}"/>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LOWER COST</a:t>
            </a:r>
          </a:p>
        </p:txBody>
      </p:sp>
      <p:sp>
        <p:nvSpPr>
          <p:cNvPr id="14" name="Text-Placeholder-16-15">
            <a:extLst xmlns:a="http://schemas.openxmlformats.org/drawingml/2006/main">
              <a:ext uri="{FF2B5EF4-FFF2-40B4-BE49-F238E27FC236}">
                <a16:creationId xmlns:a16="http://schemas.microsoft.com/office/drawing/2014/main" id="{D60B2807-D65C-42C9-B652-A4C65841EA57}"/>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BALANCED</a:t>
            </a:r>
          </a:p>
        </p:txBody>
      </p:sp>
      <p:sp>
        <p:nvSpPr>
          <p:cNvPr id="15" name="Text-Placeholder-16-16">
            <a:extLst xmlns:a="http://schemas.openxmlformats.org/drawingml/2006/main">
              <a:ext uri="{FF2B5EF4-FFF2-40B4-BE49-F238E27FC236}">
                <a16:creationId xmlns:a16="http://schemas.microsoft.com/office/drawing/2014/main" id="{74B0BC23-607B-4D4B-95A1-1E1B8AB03F8C}"/>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STRICT PRIVACY</a:t>
            </a:r>
          </a:p>
        </p:txBody>
      </p:sp>
    </p:spTree>
    <p:extLst>
      <p:ext uri="{BB962C8B-B14F-4D97-AF65-F5344CB8AC3E}">
        <p14:creationId xmlns:p14="http://schemas.microsoft.com/office/powerpoint/2010/main" val="1618848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Slide-Number-Placeholder-3-2">
            <a:extLst xmlns:a="http://schemas.openxmlformats.org/drawingml/2006/main">
              <a:ext uri="{FF2B5EF4-FFF2-40B4-BE49-F238E27FC236}">
                <a16:creationId xmlns:a16="http://schemas.microsoft.com/office/drawing/2014/main" id="{3390F347-ABF3-40F9-AFB5-69C87DAE389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Title-10-3">
            <a:extLst xmlns:a="http://schemas.openxmlformats.org/drawingml/2006/main">
              <a:ext uri="{FF2B5EF4-FFF2-40B4-BE49-F238E27FC236}">
                <a16:creationId xmlns:a16="http://schemas.microsoft.com/office/drawing/2014/main" id="{DE5875EC-F1B2-4931-BB86-95BD91ED84D8}"/>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Reliability features keep one failure from becoming an outage</a:t>
            </a:r>
          </a:p>
        </p:txBody>
      </p:sp>
      <p:sp>
        <p:nvSpPr>
          <p:cNvPr id="3" name="Content-Placeholder-15-4">
            <a:extLst xmlns:a="http://schemas.openxmlformats.org/drawingml/2006/main">
              <a:ext uri="{FF2B5EF4-FFF2-40B4-BE49-F238E27FC236}">
                <a16:creationId xmlns:a16="http://schemas.microsoft.com/office/drawing/2014/main" id="{159E5D21-C8A3-4F6A-AD85-1EDC98078E4E}"/>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Model health</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Track the active model separately from provider health.</a:t>
            </a:r>
          </a:p>
        </p:txBody>
      </p:sp>
      <p:sp>
        <p:nvSpPr>
          <p:cNvPr id="4" name="Text-Placeholder-16-5">
            <a:extLst xmlns:a="http://schemas.openxmlformats.org/drawingml/2006/main">
              <a:ext uri="{FF2B5EF4-FFF2-40B4-BE49-F238E27FC236}">
                <a16:creationId xmlns:a16="http://schemas.microsoft.com/office/drawing/2014/main" id="{2BC5627F-464F-403B-8AFF-0D5D61B65AF8}"/>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Quota protection</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Skip providers at daily or monthly request/token limits.</a:t>
            </a:r>
          </a:p>
        </p:txBody>
      </p:sp>
      <p:sp>
        <p:nvSpPr>
          <p:cNvPr id="5" name="Content-Placeholder-17-6">
            <a:extLst xmlns:a="http://schemas.openxmlformats.org/drawingml/2006/main">
              <a:ext uri="{FF2B5EF4-FFF2-40B4-BE49-F238E27FC236}">
                <a16:creationId xmlns:a16="http://schemas.microsoft.com/office/drawing/2014/main" id="{72400D1C-BA48-4696-A24E-D18D88921DF6}"/>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Deduplication</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Let identical callers share one provider operation.</a:t>
            </a:r>
          </a:p>
        </p:txBody>
      </p:sp>
      <p:sp>
        <p:nvSpPr>
          <p:cNvPr id="6" name="Text-Placeholder-18-7">
            <a:extLst xmlns:a="http://schemas.openxmlformats.org/drawingml/2006/main">
              <a:ext uri="{FF2B5EF4-FFF2-40B4-BE49-F238E27FC236}">
                <a16:creationId xmlns:a16="http://schemas.microsoft.com/office/drawing/2014/main" id="{5021A417-7E34-4CD0-AB28-B6BA40BCF0FF}"/>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Stream cancellation</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Release cloud or local compute when the client stops.</a:t>
            </a:r>
          </a:p>
        </p:txBody>
      </p:sp>
      <p:sp>
        <p:nvSpPr>
          <p:cNvPr id="7" name="Content-Placeholder-15-8">
            <a:extLst xmlns:a="http://schemas.openxmlformats.org/drawingml/2006/main">
              <a:ext uri="{FF2B5EF4-FFF2-40B4-BE49-F238E27FC236}">
                <a16:creationId xmlns:a16="http://schemas.microsoft.com/office/drawing/2014/main" id="{528D3458-90F4-4B29-97CD-C6BA2C36BF7A}"/>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Automatic failover</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Move to the next eligible provider before output starts.</a:t>
            </a:r>
          </a:p>
        </p:txBody>
      </p:sp>
      <p:sp>
        <p:nvSpPr>
          <p:cNvPr id="8" name="Text-Placeholder-16-9">
            <a:extLst xmlns:a="http://schemas.openxmlformats.org/drawingml/2006/main">
              <a:ext uri="{FF2B5EF4-FFF2-40B4-BE49-F238E27FC236}">
                <a16:creationId xmlns:a16="http://schemas.microsoft.com/office/drawing/2014/main" id="{58176DFA-97B0-4C30-B78B-DFA987131667}"/>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Rate-limit cooldown</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Honor Retry-After and stop hammering a limited API.</a:t>
            </a:r>
          </a:p>
        </p:txBody>
      </p:sp>
      <p:sp>
        <p:nvSpPr>
          <p:cNvPr id="9" name="Content-Placeholder-17-10">
            <a:extLst xmlns:a="http://schemas.openxmlformats.org/drawingml/2006/main">
              <a:ext uri="{FF2B5EF4-FFF2-40B4-BE49-F238E27FC236}">
                <a16:creationId xmlns:a16="http://schemas.microsoft.com/office/drawing/2014/main" id="{A22DC847-6E80-4B91-B139-1E9B6FB5A14F}"/>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Circuit breaker</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Temporarily remove repeatedly failing providers.</a:t>
            </a:r>
          </a:p>
        </p:txBody>
      </p:sp>
      <p:sp>
        <p:nvSpPr>
          <p:cNvPr id="10" name="Text-Placeholder-18-11">
            <a:extLst xmlns:a="http://schemas.openxmlformats.org/drawingml/2006/main">
              <a:ext uri="{FF2B5EF4-FFF2-40B4-BE49-F238E27FC236}">
                <a16:creationId xmlns:a16="http://schemas.microsoft.com/office/drawing/2014/main" id="{A7384427-8CE7-4C0F-990F-0971A2668563}"/>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Retry deadlines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Bound attempts, backoff, and total response time.</a:t>
            </a:r>
          </a:p>
        </p:txBody>
      </p:sp>
    </p:spTree>
    <p:extLst>
      <p:ext uri="{BB962C8B-B14F-4D97-AF65-F5344CB8AC3E}">
        <p14:creationId xmlns:p14="http://schemas.microsoft.com/office/powerpoint/2010/main" val="18642117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91327371-69D8-4A43-BEE0-0783A3C21F2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Google-Shape-533-p58-3">
            <a:extLst xmlns:a="http://schemas.openxmlformats.org/drawingml/2006/main">
              <a:ext uri="{FF2B5EF4-FFF2-40B4-BE49-F238E27FC236}">
                <a16:creationId xmlns:a16="http://schemas.microsoft.com/office/drawing/2014/main" id="{88B529A8-4359-4985-AF3E-CDD5D0E6484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Models are routed by verified capabilities</a:t>
            </a:r>
          </a:p>
        </p:txBody>
      </p:sp>
      <p:sp>
        <p:nvSpPr>
          <p:cNvPr id="3" name="Rounded-Rectangle-6-4">
            <a:extLst xmlns:a="http://schemas.openxmlformats.org/drawingml/2006/main">
              <a:ext uri="{FF2B5EF4-FFF2-40B4-BE49-F238E27FC236}">
                <a16:creationId xmlns:a16="http://schemas.microsoft.com/office/drawing/2014/main" id="{24D9F175-4B14-4641-93FC-A3E3C75999C9}"/>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A1A41841-8001-4E9F-B85C-478665BDE964}"/>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Capability filtering</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Tools, JSON, structured output, vision, reasoning, and streaming guide eligibility.</a:t>
            </a:r>
          </a:p>
        </p:txBody>
      </p:sp>
      <p:sp>
        <p:nvSpPr>
          <p:cNvPr id="5" name="Rounded-Rectangle-8-6">
            <a:extLst xmlns:a="http://schemas.openxmlformats.org/drawingml/2006/main">
              <a:ext uri="{FF2B5EF4-FFF2-40B4-BE49-F238E27FC236}">
                <a16:creationId xmlns:a16="http://schemas.microsoft.com/office/drawing/2014/main" id="{04E53377-B7A5-45FC-90CA-92EAA239AF14}"/>
              </a:ext>
            </a:extLst>
          </p:cNvPr>
          <p:cNvSpPr>
            <a:spLocks xmlns:a="http://schemas.openxmlformats.org/drawingml/2006/main" noGrp="1"/>
          </p:cNvSpPr>
          <p:nvPr/>
        </p:nvSpPr>
        <p:spPr>
          <a:xfrm xmlns:a="http://schemas.openxmlformats.org/drawingml/2006/main">
            <a:off x="409004"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0E7DFDD4-B3A2-4B03-82A9-843CE0E8A569}"/>
              </a:ext>
            </a:extLst>
          </p:cNvPr>
          <p:cNvSpPr>
            <a:spLocks xmlns:a="http://schemas.openxmlformats.org/drawingml/2006/main" noGrp="1"/>
          </p:cNvSpPr>
          <p:nvPr/>
        </p:nvSpPr>
        <p:spPr>
          <a:xfrm xmlns:a="http://schemas.openxmlformats.org/drawingml/2006/main">
            <a:off x="706279"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Stable aliases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Use coding-router or vision-router while the underlying model changes independently.</a:t>
            </a:r>
          </a:p>
        </p:txBody>
      </p:sp>
      <p:sp>
        <p:nvSpPr>
          <p:cNvPr id="7" name="Rounded-Rectangle-1-8">
            <a:extLst xmlns:a="http://schemas.openxmlformats.org/drawingml/2006/main">
              <a:ext uri="{FF2B5EF4-FFF2-40B4-BE49-F238E27FC236}">
                <a16:creationId xmlns:a16="http://schemas.microsoft.com/office/drawing/2014/main" id="{A5D0909E-6E69-412C-B420-6206D5A699C0}"/>
              </a:ext>
            </a:extLst>
          </p:cNvPr>
          <p:cNvSpPr>
            <a:spLocks xmlns:a="http://schemas.openxmlformats.org/drawingml/2006/main" noGrp="1"/>
          </p:cNvSpPr>
          <p:nvPr/>
        </p:nvSpPr>
        <p:spPr>
          <a:xfrm xmlns:a="http://schemas.openxmlformats.org/drawingml/2006/main">
            <a:off x="6264402" y="437007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40E73CCF-70FE-4AFD-B8E1-3AD40EAE5B80}"/>
              </a:ext>
            </a:extLst>
          </p:cNvPr>
          <p:cNvSpPr>
            <a:spLocks xmlns:a="http://schemas.openxmlformats.org/drawingml/2006/main" noGrp="1"/>
          </p:cNvSpPr>
          <p:nvPr/>
        </p:nvSpPr>
        <p:spPr>
          <a:xfrm xmlns:a="http://schemas.openxmlformats.org/drawingml/2006/main">
            <a:off x="6561677" y="466505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Runtime evidence</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Controlled probes and clear model rejections safely improve capability knowledge.</a:t>
            </a:r>
          </a:p>
        </p:txBody>
      </p:sp>
      <p:sp>
        <p:nvSpPr>
          <p:cNvPr id="9" name="Rounded-Rectangle-3-10">
            <a:extLst xmlns:a="http://schemas.openxmlformats.org/drawingml/2006/main">
              <a:ext uri="{FF2B5EF4-FFF2-40B4-BE49-F238E27FC236}">
                <a16:creationId xmlns:a16="http://schemas.microsoft.com/office/drawing/2014/main" id="{3480EC50-49B9-458B-A027-1416C99AA01F}"/>
              </a:ext>
            </a:extLst>
          </p:cNvPr>
          <p:cNvSpPr>
            <a:spLocks xmlns:a="http://schemas.openxmlformats.org/drawingml/2006/main" noGrp="1"/>
          </p:cNvSpPr>
          <p:nvPr/>
        </p:nvSpPr>
        <p:spPr>
          <a:xfrm xmlns:a="http://schemas.openxmlformats.org/drawingml/2006/main">
            <a:off x="409004" y="437007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10" name="Content-Placeholder-10-11">
            <a:extLst xmlns:a="http://schemas.openxmlformats.org/drawingml/2006/main">
              <a:ext uri="{FF2B5EF4-FFF2-40B4-BE49-F238E27FC236}">
                <a16:creationId xmlns:a16="http://schemas.microsoft.com/office/drawing/2014/main" id="{6B95B088-9DEB-4401-B270-7DDE56383EA0}"/>
              </a:ext>
            </a:extLst>
          </p:cNvPr>
          <p:cNvSpPr>
            <a:spLocks xmlns:a="http://schemas.openxmlformats.org/drawingml/2006/main" noGrp="1"/>
          </p:cNvSpPr>
          <p:nvPr/>
        </p:nvSpPr>
        <p:spPr>
          <a:xfrm xmlns:a="http://schemas.openxmlformats.org/drawingml/2006/main">
            <a:off x="706279" y="466505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Model catalogs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Save several provider models, test them, and explicitly activate one for production.</a:t>
            </a:r>
          </a:p>
        </p:txBody>
      </p:sp>
      <p:sp>
        <p:nvSpPr>
          <p:cNvPr id="11" name="Content-Placeholder-15-12">
            <a:extLst xmlns:a="http://schemas.openxmlformats.org/drawingml/2006/main">
              <a:ext uri="{FF2B5EF4-FFF2-40B4-BE49-F238E27FC236}">
                <a16:creationId xmlns:a16="http://schemas.microsoft.com/office/drawing/2014/main" id="{A4200F48-E0E0-41C3-8D94-09D58667B238}"/>
              </a:ext>
            </a:extLst>
          </p:cNvPr>
          <p:cNvSpPr>
            <a:spLocks xmlns:a="http://schemas.openxmlformats.org/drawingml/2006/main" noGrp="1"/>
          </p:cNvSpPr>
          <p:nvPr/>
        </p:nvSpPr>
        <p:spPr>
          <a:xfrm xmlns:a="http://schemas.openxmlformats.org/drawingml/2006/main">
            <a:off x="400907" y="1057466"/>
            <a:ext cx="11404568" cy="101222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500"/>
              </a:spcAft>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MODEL INTELLIGENCE</a:t>
            </a:r>
          </a:p>
          <a:p xmlns:a="http://schemas.openxmlformats.org/drawingml/2006/main">
            <a:pPr algn="l">
              <a:lnSpc>
                <a:spcPct val="108000"/>
              </a:lnSpc>
              <a:buNone/>
              <a:defRPr sz="1600">
                <a:solidFill>
                  <a:srgbClr val="000000"/>
                </a:solidFill>
                <a:latin typeface="Helvetica Neue"/>
                <a:ea typeface="Helvetica Neue"/>
                <a:cs typeface="Helvetica Neue"/>
              </a:defRPr>
            </a:pPr>
            <a:r>
              <a:rPr sz="1425" b="0">
                <a:solidFill>
                  <a:srgbClr val="111A17"/>
                </a:solidFill>
                <a:latin typeface="Helvetica Neue"/>
                <a:ea typeface="Helvetica Neue"/>
                <a:cs typeface="Helvetica Neue"/>
              </a:rPr>
              <a:t>The router evaluates the exact active provider-model pair—not merely whether a provider is connected.</a:t>
            </a:r>
          </a:p>
        </p:txBody>
      </p:sp>
    </p:spTree>
    <p:extLst>
      <p:ext uri="{BB962C8B-B14F-4D97-AF65-F5344CB8AC3E}">
        <p14:creationId xmlns:p14="http://schemas.microsoft.com/office/powerpoint/2010/main" val="195246641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F87B47A4-99A9-4E74-851F-156DD08916B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9</a:t>
            </a:r>
          </a:p>
        </p:txBody>
      </p:sp>
      <p:sp>
        <p:nvSpPr>
          <p:cNvPr id="2" name="Title-10-3">
            <a:extLst xmlns:a="http://schemas.openxmlformats.org/drawingml/2006/main">
              <a:ext uri="{FF2B5EF4-FFF2-40B4-BE49-F238E27FC236}">
                <a16:creationId xmlns:a16="http://schemas.microsoft.com/office/drawing/2014/main" id="{0188465D-147B-4D48-AB6B-42A0D5D2805B}"/>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The Playground answers three different diagnostic questions</a:t>
            </a:r>
          </a:p>
        </p:txBody>
      </p:sp>
      <p:cxnSp>
        <p:nvCxnSpPr>
          <p:cNvPr id="18"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39BE6E56-4498-4A1E-89D1-B8A5023D7739}"/>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2D099166-BF06-422C-8000-806EB825E7FD}"/>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56087A3A-DA77-4F28-AA1A-886469194642}"/>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80CC9ACB-DA19-4231-9484-1290D7C35205}"/>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4936ACBA-EFC2-48FC-B7B3-ED2A7A4BD5C4}"/>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Router request</a:t>
            </a:r>
          </a:p>
          <a:p xmlns:a="http://schemas.openxmlformats.org/drawingml/2006/main">
            <a:pPr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Did the complete alias, capability, ranking, quota, and fallback policy behave correctly?</a:t>
            </a:r>
          </a:p>
        </p:txBody>
      </p:sp>
      <p:sp>
        <p:nvSpPr>
          <p:cNvPr id="9" name="Rounded-Rectangle-21-10">
            <a:extLst xmlns:a="http://schemas.openxmlformats.org/drawingml/2006/main">
              <a:ext uri="{FF2B5EF4-FFF2-40B4-BE49-F238E27FC236}">
                <a16:creationId xmlns:a16="http://schemas.microsoft.com/office/drawing/2014/main" id="{CFF5E9CB-FD4D-4C44-871F-7E5C582B45A1}"/>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8E033244-603C-4A2C-BAED-7D01B2B5C66E}"/>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Provider + model</a:t>
            </a:r>
          </a:p>
          <a:p xmlns:a="http://schemas.openxmlformats.org/drawingml/2006/main">
            <a:pPr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Does this exact hosted provider key and model work independently of routing?</a:t>
            </a:r>
          </a:p>
        </p:txBody>
      </p:sp>
      <p:sp>
        <p:nvSpPr>
          <p:cNvPr id="11" name="Rounded-Rectangle-23-12">
            <a:extLst xmlns:a="http://schemas.openxmlformats.org/drawingml/2006/main">
              <a:ext uri="{FF2B5EF4-FFF2-40B4-BE49-F238E27FC236}">
                <a16:creationId xmlns:a16="http://schemas.microsoft.com/office/drawing/2014/main" id="{EC02ECC9-AA5E-446F-B346-1F297DE73AB5}"/>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357BF70A-C6A8-4EF8-A1B3-A091ADAB0845}"/>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Local LLM</a:t>
            </a:r>
          </a:p>
          <a:p xmlns:a="http://schemas.openxmlformats.org/drawingml/2006/main">
            <a:pPr algn="l">
              <a:lnSpc>
                <a:spcPct val="108000"/>
              </a:lnSpc>
              <a:buNone/>
              <a:defRPr sz="16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Does this exact online Ollama node and enabled model answer with the chosen generation settings?</a:t>
            </a:r>
          </a:p>
        </p:txBody>
      </p:sp>
      <p:sp>
        <p:nvSpPr>
          <p:cNvPr id="13" name="Text-Placeholder-16-14">
            <a:extLst xmlns:a="http://schemas.openxmlformats.org/drawingml/2006/main">
              <a:ext uri="{FF2B5EF4-FFF2-40B4-BE49-F238E27FC236}">
                <a16:creationId xmlns:a16="http://schemas.microsoft.com/office/drawing/2014/main" id="{EF42A76A-6DEB-454C-B459-E339C47E55B5}"/>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EXACT CLOUD</a:t>
            </a:r>
          </a:p>
        </p:txBody>
      </p:sp>
      <p:sp>
        <p:nvSpPr>
          <p:cNvPr id="14" name="Text-Placeholder-16-15">
            <a:extLst xmlns:a="http://schemas.openxmlformats.org/drawingml/2006/main">
              <a:ext uri="{FF2B5EF4-FFF2-40B4-BE49-F238E27FC236}">
                <a16:creationId xmlns:a16="http://schemas.microsoft.com/office/drawing/2014/main" id="{3FC29807-FFC6-42EC-BF34-050116AA63FE}"/>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END-TO-END</a:t>
            </a:r>
          </a:p>
        </p:txBody>
      </p:sp>
      <p:sp>
        <p:nvSpPr>
          <p:cNvPr id="15" name="Text-Placeholder-16-16">
            <a:extLst xmlns:a="http://schemas.openxmlformats.org/drawingml/2006/main">
              <a:ext uri="{FF2B5EF4-FFF2-40B4-BE49-F238E27FC236}">
                <a16:creationId xmlns:a16="http://schemas.microsoft.com/office/drawing/2014/main" id="{30AD178A-4E3A-41B3-868C-954E8E638D6F}"/>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EXACT LOCAL</a:t>
            </a:r>
          </a:p>
        </p:txBody>
      </p:sp>
    </p:spTree>
    <p:extLst>
      <p:ext uri="{BB962C8B-B14F-4D97-AF65-F5344CB8AC3E}">
        <p14:creationId xmlns:p14="http://schemas.microsoft.com/office/powerpoint/2010/main" val="72761463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918B68C7-346B-48A8-8134-436DAD258FA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2" name="Google-Shape-533-p58-3">
            <a:extLst xmlns:a="http://schemas.openxmlformats.org/drawingml/2006/main">
              <a:ext uri="{FF2B5EF4-FFF2-40B4-BE49-F238E27FC236}">
                <a16:creationId xmlns:a16="http://schemas.microsoft.com/office/drawing/2014/main" id="{0D1A07B8-535D-4787-B89D-57F3E575CD2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Every request can explain itself</a:t>
            </a:r>
          </a:p>
        </p:txBody>
      </p:sp>
      <p:sp>
        <p:nvSpPr>
          <p:cNvPr id="3" name="Rounded-Rectangle-6-4">
            <a:extLst xmlns:a="http://schemas.openxmlformats.org/drawingml/2006/main">
              <a:ext uri="{FF2B5EF4-FFF2-40B4-BE49-F238E27FC236}">
                <a16:creationId xmlns:a16="http://schemas.microsoft.com/office/drawing/2014/main" id="{461DA675-B1A6-4AD7-8AF3-B8DCA1681B1D}"/>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F2169A9B-789A-46B9-8AD8-0EAA2D965DC0}"/>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Attempt timeline</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See rankings, skips, retries, cooldowns, circuit transitions, and final delivery.</a:t>
            </a:r>
          </a:p>
        </p:txBody>
      </p:sp>
      <p:sp>
        <p:nvSpPr>
          <p:cNvPr id="5" name="Rounded-Rectangle-8-6">
            <a:extLst xmlns:a="http://schemas.openxmlformats.org/drawingml/2006/main">
              <a:ext uri="{FF2B5EF4-FFF2-40B4-BE49-F238E27FC236}">
                <a16:creationId xmlns:a16="http://schemas.microsoft.com/office/drawing/2014/main" id="{4BACECA1-9A55-4435-9A44-BA6714768AF7}"/>
              </a:ext>
            </a:extLst>
          </p:cNvPr>
          <p:cNvSpPr>
            <a:spLocks xmlns:a="http://schemas.openxmlformats.org/drawingml/2006/main" noGrp="1"/>
          </p:cNvSpPr>
          <p:nvPr/>
        </p:nvSpPr>
        <p:spPr>
          <a:xfrm xmlns:a="http://schemas.openxmlformats.org/drawingml/2006/main">
            <a:off x="409004"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4A630C60-AAB9-435C-AAAA-C49576D11C4D}"/>
              </a:ext>
            </a:extLst>
          </p:cNvPr>
          <p:cNvSpPr>
            <a:spLocks xmlns:a="http://schemas.openxmlformats.org/drawingml/2006/main" noGrp="1"/>
          </p:cNvSpPr>
          <p:nvPr/>
        </p:nvSpPr>
        <p:spPr>
          <a:xfrm xmlns:a="http://schemas.openxmlformats.org/drawingml/2006/main">
            <a:off x="706279"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Request IDs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Correlate client errors, upstream attempts, analytics, and returned headers.</a:t>
            </a:r>
          </a:p>
        </p:txBody>
      </p:sp>
      <p:sp>
        <p:nvSpPr>
          <p:cNvPr id="7" name="Rounded-Rectangle-1-8">
            <a:extLst xmlns:a="http://schemas.openxmlformats.org/drawingml/2006/main">
              <a:ext uri="{FF2B5EF4-FFF2-40B4-BE49-F238E27FC236}">
                <a16:creationId xmlns:a16="http://schemas.microsoft.com/office/drawing/2014/main" id="{3A0DD61D-D515-4BE5-9897-A1A17D401501}"/>
              </a:ext>
            </a:extLst>
          </p:cNvPr>
          <p:cNvSpPr>
            <a:spLocks xmlns:a="http://schemas.openxmlformats.org/drawingml/2006/main" noGrp="1"/>
          </p:cNvSpPr>
          <p:nvPr/>
        </p:nvSpPr>
        <p:spPr>
          <a:xfrm xmlns:a="http://schemas.openxmlformats.org/drawingml/2006/main">
            <a:off x="6264402" y="437007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6AD52F83-AC63-43CD-908A-D8B1FB556F87}"/>
              </a:ext>
            </a:extLst>
          </p:cNvPr>
          <p:cNvSpPr>
            <a:spLocks xmlns:a="http://schemas.openxmlformats.org/drawingml/2006/main" noGrp="1"/>
          </p:cNvSpPr>
          <p:nvPr/>
        </p:nvSpPr>
        <p:spPr>
          <a:xfrm xmlns:a="http://schemas.openxmlformats.org/drawingml/2006/main">
            <a:off x="6561677" y="466505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Usage analytics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Track providers, models, tokens, success, fallback, tools, clients, and latency.</a:t>
            </a:r>
          </a:p>
        </p:txBody>
      </p:sp>
      <p:sp>
        <p:nvSpPr>
          <p:cNvPr id="9" name="Rounded-Rectangle-3-10">
            <a:extLst xmlns:a="http://schemas.openxmlformats.org/drawingml/2006/main">
              <a:ext uri="{FF2B5EF4-FFF2-40B4-BE49-F238E27FC236}">
                <a16:creationId xmlns:a16="http://schemas.microsoft.com/office/drawing/2014/main" id="{1F8D7B79-F4B0-49E7-BF49-500A9378778A}"/>
              </a:ext>
            </a:extLst>
          </p:cNvPr>
          <p:cNvSpPr>
            <a:spLocks xmlns:a="http://schemas.openxmlformats.org/drawingml/2006/main" noGrp="1"/>
          </p:cNvSpPr>
          <p:nvPr/>
        </p:nvSpPr>
        <p:spPr>
          <a:xfrm xmlns:a="http://schemas.openxmlformats.org/drawingml/2006/main">
            <a:off x="409004" y="437007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10" name="Content-Placeholder-10-11">
            <a:extLst xmlns:a="http://schemas.openxmlformats.org/drawingml/2006/main">
              <a:ext uri="{FF2B5EF4-FFF2-40B4-BE49-F238E27FC236}">
                <a16:creationId xmlns:a16="http://schemas.microsoft.com/office/drawing/2014/main" id="{53F5C3CF-4937-4162-89D0-1632B0C4F642}"/>
              </a:ext>
            </a:extLst>
          </p:cNvPr>
          <p:cNvSpPr>
            <a:spLocks xmlns:a="http://schemas.openxmlformats.org/drawingml/2006/main" noGrp="1"/>
          </p:cNvSpPr>
          <p:nvPr/>
        </p:nvSpPr>
        <p:spPr>
          <a:xfrm xmlns:a="http://schemas.openxmlformats.org/drawingml/2006/main">
            <a:off x="706279" y="466505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Performance timing</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Separate router work, provider latency, retry delay, first token, and stream time.</a:t>
            </a:r>
          </a:p>
        </p:txBody>
      </p:sp>
      <p:sp>
        <p:nvSpPr>
          <p:cNvPr id="11" name="Content-Placeholder-15-12">
            <a:extLst xmlns:a="http://schemas.openxmlformats.org/drawingml/2006/main">
              <a:ext uri="{FF2B5EF4-FFF2-40B4-BE49-F238E27FC236}">
                <a16:creationId xmlns:a16="http://schemas.microsoft.com/office/drawing/2014/main" id="{C2E78544-6362-436A-919D-DDBC8084610E}"/>
              </a:ext>
            </a:extLst>
          </p:cNvPr>
          <p:cNvSpPr>
            <a:spLocks xmlns:a="http://schemas.openxmlformats.org/drawingml/2006/main" noGrp="1"/>
          </p:cNvSpPr>
          <p:nvPr/>
        </p:nvSpPr>
        <p:spPr>
          <a:xfrm xmlns:a="http://schemas.openxmlformats.org/drawingml/2006/main">
            <a:off x="400907" y="1057466"/>
            <a:ext cx="11404568" cy="101222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500"/>
              </a:spcAft>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OBSERVABILITY</a:t>
            </a:r>
          </a:p>
          <a:p xmlns:a="http://schemas.openxmlformats.org/drawingml/2006/main">
            <a:pPr algn="l">
              <a:lnSpc>
                <a:spcPct val="108000"/>
              </a:lnSpc>
              <a:buNone/>
              <a:defRPr sz="1600">
                <a:solidFill>
                  <a:srgbClr val="000000"/>
                </a:solidFill>
                <a:latin typeface="Helvetica Neue"/>
                <a:ea typeface="Helvetica Neue"/>
                <a:cs typeface="Helvetica Neue"/>
              </a:defRPr>
            </a:pPr>
            <a:r>
              <a:rPr sz="1425" b="0">
                <a:solidFill>
                  <a:srgbClr val="111A17"/>
                </a:solidFill>
                <a:latin typeface="Helvetica Neue"/>
                <a:ea typeface="Helvetica Neue"/>
                <a:cs typeface="Helvetica Neue"/>
              </a:rPr>
              <a:t>A successful answer is useful. A traceable answer is operable.</a:t>
            </a:r>
          </a:p>
        </p:txBody>
      </p:sp>
    </p:spTree>
    <p:extLst>
      <p:ext uri="{BB962C8B-B14F-4D97-AF65-F5344CB8AC3E}">
        <p14:creationId xmlns:p14="http://schemas.microsoft.com/office/powerpoint/2010/main" val="35510542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C24130FD-A4EB-458F-B21E-5DC485C15914}"/>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2" name="Title-2-3">
            <a:extLst xmlns:a="http://schemas.openxmlformats.org/drawingml/2006/main">
              <a:ext uri="{FF2B5EF4-FFF2-40B4-BE49-F238E27FC236}">
                <a16:creationId xmlns:a16="http://schemas.microsoft.com/office/drawing/2014/main" id="{D65D55DA-7FFC-41B9-B48D-CAF871EF02F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The same gateway fits existing developer workflows</a:t>
            </a:r>
          </a:p>
        </p:txBody>
      </p:sp>
      <p:sp>
        <p:nvSpPr>
          <p:cNvPr id="3" name="Content-Placeholder-9-4">
            <a:extLst xmlns:a="http://schemas.openxmlformats.org/drawingml/2006/main">
              <a:ext uri="{FF2B5EF4-FFF2-40B4-BE49-F238E27FC236}">
                <a16:creationId xmlns:a16="http://schemas.microsoft.com/office/drawing/2014/main" id="{67C27E2B-B3FB-49BB-AA5C-1D52D5FE41AF}"/>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OpenAI clients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Change the base URL and router key; keep Chat Completions-compatible application code.</a:t>
            </a:r>
          </a:p>
        </p:txBody>
      </p:sp>
      <p:sp>
        <p:nvSpPr>
          <p:cNvPr id="4" name="Content-Placeholder-10-5">
            <a:extLst xmlns:a="http://schemas.openxmlformats.org/drawingml/2006/main">
              <a:ext uri="{FF2B5EF4-FFF2-40B4-BE49-F238E27FC236}">
                <a16:creationId xmlns:a16="http://schemas.microsoft.com/office/drawing/2014/main" id="{65FFDE35-F238-44F5-9B4A-7CCCA10478F2}"/>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Codex CLI</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Use the Responses-compatible gateway with function tools and streaming event conversion.</a:t>
            </a:r>
          </a:p>
        </p:txBody>
      </p:sp>
      <p:sp>
        <p:nvSpPr>
          <p:cNvPr id="5" name="Content-Placeholder-9-6">
            <a:extLst xmlns:a="http://schemas.openxmlformats.org/drawingml/2006/main">
              <a:ext uri="{FF2B5EF4-FFF2-40B4-BE49-F238E27FC236}">
                <a16:creationId xmlns:a16="http://schemas.microsoft.com/office/drawing/2014/main" id="{F9621552-64C8-4B4A-B595-A1A50213B167}"/>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Claude Code</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Route Anthropic Messages, tool use, token counting, and SSE through the same provider pool.</a:t>
            </a:r>
          </a:p>
        </p:txBody>
      </p:sp>
      <p:sp>
        <p:nvSpPr>
          <p:cNvPr id="6" name="Content-Placeholder-10-7">
            <a:extLst xmlns:a="http://schemas.openxmlformats.org/drawingml/2006/main">
              <a:ext uri="{FF2B5EF4-FFF2-40B4-BE49-F238E27FC236}">
                <a16:creationId xmlns:a16="http://schemas.microsoft.com/office/drawing/2014/main" id="{024D6AC1-9E32-4B7B-9E65-469828EBB77D}"/>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Plain HTTP</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Integrate with cURL, fetch, Python requests, or any client that can call the gateway.</a:t>
            </a:r>
          </a:p>
        </p:txBody>
      </p:sp>
    </p:spTree>
    <p:extLst>
      <p:ext uri="{BB962C8B-B14F-4D97-AF65-F5344CB8AC3E}">
        <p14:creationId xmlns:p14="http://schemas.microsoft.com/office/powerpoint/2010/main" val="188690729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1" name="Slide-Number-Placeholder-3-2">
            <a:extLst xmlns:a="http://schemas.openxmlformats.org/drawingml/2006/main">
              <a:ext uri="{FF2B5EF4-FFF2-40B4-BE49-F238E27FC236}">
                <a16:creationId xmlns:a16="http://schemas.microsoft.com/office/drawing/2014/main" id="{7BB16A1B-C424-4AD7-BC3A-6D0CB5BB04B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12</a:t>
            </a:r>
          </a:p>
        </p:txBody>
      </p:sp>
      <p:sp>
        <p:nvSpPr>
          <p:cNvPr id="2" name="Title-10-3">
            <a:extLst xmlns:a="http://schemas.openxmlformats.org/drawingml/2006/main">
              <a:ext uri="{FF2B5EF4-FFF2-40B4-BE49-F238E27FC236}">
                <a16:creationId xmlns:a16="http://schemas.microsoft.com/office/drawing/2014/main" id="{D892F995-F858-4288-B99C-C22303051A6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Real workflows make the MVP valuable</a:t>
            </a:r>
          </a:p>
        </p:txBody>
      </p:sp>
      <p:sp>
        <p:nvSpPr>
          <p:cNvPr id="3" name="Content-Placeholder-15-4">
            <a:extLst xmlns:a="http://schemas.openxmlformats.org/drawingml/2006/main">
              <a:ext uri="{FF2B5EF4-FFF2-40B4-BE49-F238E27FC236}">
                <a16:creationId xmlns:a16="http://schemas.microsoft.com/office/drawing/2014/main" id="{9513DE2D-6040-49D5-B809-3A3D43FFD78A}"/>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Limited local hardware</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Concurrency and queues keep a laptop responsive.</a:t>
            </a:r>
          </a:p>
        </p:txBody>
      </p:sp>
      <p:sp>
        <p:nvSpPr>
          <p:cNvPr id="4" name="Text-Placeholder-16-5">
            <a:extLst xmlns:a="http://schemas.openxmlformats.org/drawingml/2006/main">
              <a:ext uri="{FF2B5EF4-FFF2-40B4-BE49-F238E27FC236}">
                <a16:creationId xmlns:a16="http://schemas.microsoft.com/office/drawing/2014/main" id="{850E1A9F-9745-4CAF-A62F-0C842BB679F3}"/>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Vision workflow</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Capability filters send image prompts only to vision models.</a:t>
            </a:r>
          </a:p>
        </p:txBody>
      </p:sp>
      <p:sp>
        <p:nvSpPr>
          <p:cNvPr id="5" name="Content-Placeholder-17-6">
            <a:extLst xmlns:a="http://schemas.openxmlformats.org/drawingml/2006/main">
              <a:ext uri="{FF2B5EF4-FFF2-40B4-BE49-F238E27FC236}">
                <a16:creationId xmlns:a16="http://schemas.microsoft.com/office/drawing/2014/main" id="{B37D7182-4D5B-4596-8858-E60BB1AE8050}"/>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Duplicate actions</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A double-click produces one upstream model operation.</a:t>
            </a:r>
          </a:p>
        </p:txBody>
      </p:sp>
      <p:sp>
        <p:nvSpPr>
          <p:cNvPr id="6" name="Text-Placeholder-18-7">
            <a:extLst xmlns:a="http://schemas.openxmlformats.org/drawingml/2006/main">
              <a:ext uri="{FF2B5EF4-FFF2-40B4-BE49-F238E27FC236}">
                <a16:creationId xmlns:a16="http://schemas.microsoft.com/office/drawing/2014/main" id="{01CCB2F5-3971-4EF3-99D7-3A713954962E}"/>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Production debugging</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A request ID reveals the exact fallback timeline.</a:t>
            </a:r>
          </a:p>
        </p:txBody>
      </p:sp>
      <p:sp>
        <p:nvSpPr>
          <p:cNvPr id="7" name="Content-Placeholder-15-8">
            <a:extLst xmlns:a="http://schemas.openxmlformats.org/drawingml/2006/main">
              <a:ext uri="{FF2B5EF4-FFF2-40B4-BE49-F238E27FC236}">
                <a16:creationId xmlns:a16="http://schemas.microsoft.com/office/drawing/2014/main" id="{657687F8-5388-41DD-A2E8-F38B0D1BBF75}"/>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Confidential documents</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A legal team uses local-only routing for sensitive drafts.</a:t>
            </a:r>
          </a:p>
        </p:txBody>
      </p:sp>
      <p:sp>
        <p:nvSpPr>
          <p:cNvPr id="8" name="Text-Placeholder-16-9">
            <a:extLst xmlns:a="http://schemas.openxmlformats.org/drawingml/2006/main">
              <a:ext uri="{FF2B5EF4-FFF2-40B4-BE49-F238E27FC236}">
                <a16:creationId xmlns:a16="http://schemas.microsoft.com/office/drawing/2014/main" id="{DD96D23D-B9B9-4144-B20A-BB9F0D54715D}"/>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Provider outage</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A support assistant fails over before customers notice.</a:t>
            </a:r>
          </a:p>
        </p:txBody>
      </p:sp>
      <p:sp>
        <p:nvSpPr>
          <p:cNvPr id="9" name="Content-Placeholder-17-10">
            <a:extLst xmlns:a="http://schemas.openxmlformats.org/drawingml/2006/main">
              <a:ext uri="{FF2B5EF4-FFF2-40B4-BE49-F238E27FC236}">
                <a16:creationId xmlns:a16="http://schemas.microsoft.com/office/drawing/2014/main" id="{E90110EB-9692-4299-B9C9-2BD5C3AC4090}"/>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Free-tier pooling</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A student project spreads usage across limited quotas.</a:t>
            </a:r>
          </a:p>
        </p:txBody>
      </p:sp>
      <p:sp>
        <p:nvSpPr>
          <p:cNvPr id="10" name="Text-Placeholder-18-11">
            <a:extLst xmlns:a="http://schemas.openxmlformats.org/drawingml/2006/main">
              <a:ext uri="{FF2B5EF4-FFF2-40B4-BE49-F238E27FC236}">
                <a16:creationId xmlns:a16="http://schemas.microsoft.com/office/drawing/2014/main" id="{9623E24B-E2AE-4B63-9F60-47E27AFF1A02}"/>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Changing models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A startup swaps the active model without redeploying.</a:t>
            </a:r>
          </a:p>
        </p:txBody>
      </p:sp>
    </p:spTree>
    <p:extLst>
      <p:ext uri="{BB962C8B-B14F-4D97-AF65-F5344CB8AC3E}">
        <p14:creationId xmlns:p14="http://schemas.microsoft.com/office/powerpoint/2010/main" val="80711236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8A4197E-B11A-4681-915F-C048E2CB30C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13</a:t>
            </a:r>
          </a:p>
        </p:txBody>
      </p:sp>
      <p:sp>
        <p:nvSpPr>
          <p:cNvPr id="2" name="Title-10-3">
            <a:extLst xmlns:a="http://schemas.openxmlformats.org/drawingml/2006/main">
              <a:ext uri="{FF2B5EF4-FFF2-40B4-BE49-F238E27FC236}">
                <a16:creationId xmlns:a16="http://schemas.microsoft.com/office/drawing/2014/main" id="{C43E919C-8B42-486B-B743-E3DAB0086D98}"/>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A short live demo proves the entire product story</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16152452-7398-4B3F-87B7-11E1AA3B46BC}"/>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D243F4C6-B1B5-4DAE-9FE1-89799E8FA04A}"/>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8FC8DFE8-2842-430E-B617-8C2307459F7D}"/>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D3067135-F16C-4089-ACE7-387639D4BE25}"/>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LOCAL SUCCESS</a:t>
            </a:r>
          </a:p>
        </p:txBody>
      </p:sp>
      <p:sp>
        <p:nvSpPr>
          <p:cNvPr id="8" name="Content-Placeholder-15-9">
            <a:extLst xmlns:a="http://schemas.openxmlformats.org/drawingml/2006/main">
              <a:ext uri="{FF2B5EF4-FFF2-40B4-BE49-F238E27FC236}">
                <a16:creationId xmlns:a16="http://schemas.microsoft.com/office/drawing/2014/main" id="{0BC2FAFB-EC0F-46DC-8F2A-398BDFFD3607}"/>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CONTROLLED FAILURE</a:t>
            </a:r>
          </a:p>
        </p:txBody>
      </p:sp>
      <p:sp>
        <p:nvSpPr>
          <p:cNvPr id="9" name="Content-Placeholder-15-10">
            <a:extLst xmlns:a="http://schemas.openxmlformats.org/drawingml/2006/main">
              <a:ext uri="{FF2B5EF4-FFF2-40B4-BE49-F238E27FC236}">
                <a16:creationId xmlns:a16="http://schemas.microsoft.com/office/drawing/2014/main" id="{25A80B70-E757-43A0-B403-44BDAF3B04D8}"/>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EXPLAIN THE RESULT</a:t>
            </a:r>
          </a:p>
        </p:txBody>
      </p:sp>
      <p:sp>
        <p:nvSpPr>
          <p:cNvPr id="10" name="Text-Placeholder-16-11">
            <a:extLst xmlns:a="http://schemas.openxmlformats.org/drawingml/2006/main">
              <a:ext uri="{FF2B5EF4-FFF2-40B4-BE49-F238E27FC236}">
                <a16:creationId xmlns:a16="http://schemas.microsoft.com/office/drawing/2014/main" id="{46361481-B759-4B4D-921D-FA3C2AF62966}"/>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Disconnect the node</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Repeat in prefer-local to demonstrate cloud fallback, then local-only to prove cloud exclusion.</a:t>
            </a:r>
          </a:p>
        </p:txBody>
      </p:sp>
      <p:sp>
        <p:nvSpPr>
          <p:cNvPr id="11" name="Text-Placeholder-16-12">
            <a:extLst xmlns:a="http://schemas.openxmlformats.org/drawingml/2006/main">
              <a:ext uri="{FF2B5EF4-FFF2-40B4-BE49-F238E27FC236}">
                <a16:creationId xmlns:a16="http://schemas.microsoft.com/office/drawing/2014/main" id="{8D91FB7E-8E42-4FD0-BA20-37FD125AE89A}"/>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Send one routed prompt</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Show the request reaching the connected Ollama model through the normal application endpoint.</a:t>
            </a:r>
          </a:p>
        </p:txBody>
      </p:sp>
      <p:sp>
        <p:nvSpPr>
          <p:cNvPr id="12" name="Text-Placeholder-16-13">
            <a:extLst xmlns:a="http://schemas.openxmlformats.org/drawingml/2006/main">
              <a:ext uri="{FF2B5EF4-FFF2-40B4-BE49-F238E27FC236}">
                <a16:creationId xmlns:a16="http://schemas.microsoft.com/office/drawing/2014/main" id="{A361C7CC-FD0E-46CD-BFF1-19E9CBF6CF2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Open Analysis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Reveal the selected model, skipped candidates, fallback state, timing, headers, and request ID.</a:t>
            </a:r>
          </a:p>
        </p:txBody>
      </p:sp>
    </p:spTree>
    <p:extLst>
      <p:ext uri="{BB962C8B-B14F-4D97-AF65-F5344CB8AC3E}">
        <p14:creationId xmlns:p14="http://schemas.microsoft.com/office/powerpoint/2010/main" val="212713894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76D4585E-B93A-4391-BAC9-825F1676482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14</a:t>
            </a:r>
          </a:p>
        </p:txBody>
      </p:sp>
      <p:sp>
        <p:nvSpPr>
          <p:cNvPr id="2" name="Google-Shape-533-p58-3">
            <a:extLst xmlns:a="http://schemas.openxmlformats.org/drawingml/2006/main">
              <a:ext uri="{FF2B5EF4-FFF2-40B4-BE49-F238E27FC236}">
                <a16:creationId xmlns:a16="http://schemas.microsoft.com/office/drawing/2014/main" id="{4B8B1E8C-6B62-4D64-96B0-AFC8E7D005E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V1 is intentionally focused—and clear about its boundaries</a:t>
            </a:r>
          </a:p>
        </p:txBody>
      </p:sp>
      <p:sp>
        <p:nvSpPr>
          <p:cNvPr id="3" name="Rounded-Rectangle-6-4">
            <a:extLst xmlns:a="http://schemas.openxmlformats.org/drawingml/2006/main">
              <a:ext uri="{FF2B5EF4-FFF2-40B4-BE49-F238E27FC236}">
                <a16:creationId xmlns:a16="http://schemas.microsoft.com/office/drawing/2014/main" id="{FCB6A300-30F4-43E2-9F48-B6D7012EF54F}"/>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400CB368-F334-41AC-9529-C2545D28F4DE}"/>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Connection</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V1 uses a protected local agent and an ngrok HTTPS tunnel managed by the CLI.</a:t>
            </a:r>
          </a:p>
        </p:txBody>
      </p:sp>
      <p:sp>
        <p:nvSpPr>
          <p:cNvPr id="5" name="Rounded-Rectangle-8-6">
            <a:extLst xmlns:a="http://schemas.openxmlformats.org/drawingml/2006/main">
              <a:ext uri="{FF2B5EF4-FFF2-40B4-BE49-F238E27FC236}">
                <a16:creationId xmlns:a16="http://schemas.microsoft.com/office/drawing/2014/main" id="{1CAE68D1-E816-48F6-9D28-2015B82E3457}"/>
              </a:ext>
            </a:extLst>
          </p:cNvPr>
          <p:cNvSpPr>
            <a:spLocks xmlns:a="http://schemas.openxmlformats.org/drawingml/2006/main" noGrp="1"/>
          </p:cNvSpPr>
          <p:nvPr/>
        </p:nvSpPr>
        <p:spPr>
          <a:xfrm xmlns:a="http://schemas.openxmlformats.org/drawingml/2006/main">
            <a:off x="409004"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98EFBD76-B9B7-45CF-AD4A-C501386CF455}"/>
              </a:ext>
            </a:extLst>
          </p:cNvPr>
          <p:cNvSpPr>
            <a:spLocks xmlns:a="http://schemas.openxmlformats.org/drawingml/2006/main" noGrp="1"/>
          </p:cNvSpPr>
          <p:nvPr/>
        </p:nvSpPr>
        <p:spPr>
          <a:xfrm xmlns:a="http://schemas.openxmlformats.org/drawingml/2006/main">
            <a:off x="706279"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Included now</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Ollama, cloud + local routing, exact tests, node controls, lifecycle, and analytics.</a:t>
            </a:r>
          </a:p>
        </p:txBody>
      </p:sp>
      <p:sp>
        <p:nvSpPr>
          <p:cNvPr id="7" name="Rounded-Rectangle-1-8">
            <a:extLst xmlns:a="http://schemas.openxmlformats.org/drawingml/2006/main">
              <a:ext uri="{FF2B5EF4-FFF2-40B4-BE49-F238E27FC236}">
                <a16:creationId xmlns:a16="http://schemas.microsoft.com/office/drawing/2014/main" id="{EE139908-DE65-469A-9987-E7353B64E3E8}"/>
              </a:ext>
            </a:extLst>
          </p:cNvPr>
          <p:cNvSpPr>
            <a:spLocks xmlns:a="http://schemas.openxmlformats.org/drawingml/2006/main" noGrp="1"/>
          </p:cNvSpPr>
          <p:nvPr/>
        </p:nvSpPr>
        <p:spPr>
          <a:xfrm xmlns:a="http://schemas.openxmlformats.org/drawingml/2006/main">
            <a:off x="6264402" y="437007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15E0B788-14BE-4CD5-8A36-7421D815971D}"/>
              </a:ext>
            </a:extLst>
          </p:cNvPr>
          <p:cNvSpPr>
            <a:spLocks xmlns:a="http://schemas.openxmlformats.org/drawingml/2006/main" noGrp="1"/>
          </p:cNvSpPr>
          <p:nvPr/>
        </p:nvSpPr>
        <p:spPr>
          <a:xfrm xmlns:a="http://schemas.openxmlformats.org/drawingml/2006/main">
            <a:off x="6561677" y="466505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Streaming</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Fallback is safe before first output; a later stream failure never mixes a second model into the answer.</a:t>
            </a:r>
          </a:p>
        </p:txBody>
      </p:sp>
      <p:sp>
        <p:nvSpPr>
          <p:cNvPr id="9" name="Rounded-Rectangle-3-10">
            <a:extLst xmlns:a="http://schemas.openxmlformats.org/drawingml/2006/main">
              <a:ext uri="{FF2B5EF4-FFF2-40B4-BE49-F238E27FC236}">
                <a16:creationId xmlns:a16="http://schemas.microsoft.com/office/drawing/2014/main" id="{D21781FE-F5D9-4E38-9B14-E453A448E05D}"/>
              </a:ext>
            </a:extLst>
          </p:cNvPr>
          <p:cNvSpPr>
            <a:spLocks xmlns:a="http://schemas.openxmlformats.org/drawingml/2006/main" noGrp="1"/>
          </p:cNvSpPr>
          <p:nvPr/>
        </p:nvSpPr>
        <p:spPr>
          <a:xfrm xmlns:a="http://schemas.openxmlformats.org/drawingml/2006/main">
            <a:off x="409004" y="437007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10" name="Content-Placeholder-10-11">
            <a:extLst xmlns:a="http://schemas.openxmlformats.org/drawingml/2006/main">
              <a:ext uri="{FF2B5EF4-FFF2-40B4-BE49-F238E27FC236}">
                <a16:creationId xmlns:a16="http://schemas.microsoft.com/office/drawing/2014/main" id="{636F8489-86D6-45A1-AA32-0FE0B05A2DEB}"/>
              </a:ext>
            </a:extLst>
          </p:cNvPr>
          <p:cNvSpPr>
            <a:spLocks xmlns:a="http://schemas.openxmlformats.org/drawingml/2006/main" noGrp="1"/>
          </p:cNvSpPr>
          <p:nvPr/>
        </p:nvSpPr>
        <p:spPr>
          <a:xfrm xmlns:a="http://schemas.openxmlformats.org/drawingml/2006/main">
            <a:off x="706279" y="466505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450"/>
              </a:spcAft>
              <a:buNone/>
              <a:defRPr sz="2400">
                <a:solidFill>
                  <a:srgbClr val="000000"/>
                </a:solidFill>
                <a:latin typeface="Helvetica Neue"/>
                <a:ea typeface="Helvetica Neue"/>
                <a:cs typeface="Helvetica Neue"/>
              </a:defRPr>
            </a:pPr>
            <a:r>
              <a:rPr sz="1725" b="1">
                <a:solidFill>
                  <a:srgbClr val="0F6B52"/>
                </a:solidFill>
                <a:latin typeface="Helvetica Neue"/>
                <a:ea typeface="Helvetica Neue"/>
                <a:cs typeface="Helvetica Neue"/>
              </a:rPr>
              <a:t>Administration</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13" b="0">
                <a:solidFill>
                  <a:srgbClr val="53615C"/>
                </a:solidFill>
                <a:latin typeface="Helvetica Neue"/>
                <a:ea typeface="Helvetica Neue"/>
                <a:cs typeface="Helvetica Neue"/>
              </a:rPr>
              <a:t>Remote model installation, deletion, copying, and pushing are intentionally unavailable.</a:t>
            </a:r>
          </a:p>
        </p:txBody>
      </p:sp>
      <p:sp>
        <p:nvSpPr>
          <p:cNvPr id="11" name="Content-Placeholder-15-12">
            <a:extLst xmlns:a="http://schemas.openxmlformats.org/drawingml/2006/main">
              <a:ext uri="{FF2B5EF4-FFF2-40B4-BE49-F238E27FC236}">
                <a16:creationId xmlns:a16="http://schemas.microsoft.com/office/drawing/2014/main" id="{BDB6B7F8-E380-496C-ADD2-18C13701CED3}"/>
              </a:ext>
            </a:extLst>
          </p:cNvPr>
          <p:cNvSpPr>
            <a:spLocks xmlns:a="http://schemas.openxmlformats.org/drawingml/2006/main" noGrp="1"/>
          </p:cNvSpPr>
          <p:nvPr/>
        </p:nvSpPr>
        <p:spPr>
          <a:xfrm xmlns:a="http://schemas.openxmlformats.org/drawingml/2006/main">
            <a:off x="400907" y="1057466"/>
            <a:ext cx="11404568" cy="101222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500"/>
              </a:spcAft>
              <a:buNone/>
              <a:defRPr sz="1600">
                <a:solidFill>
                  <a:srgbClr val="000000"/>
                </a:solidFill>
                <a:latin typeface="Helvetica Neue"/>
                <a:ea typeface="Helvetica Neue"/>
                <a:cs typeface="Helvetica Neue"/>
              </a:defRPr>
            </a:pPr>
            <a:r>
              <a:rPr sz="1350" b="1">
                <a:solidFill>
                  <a:srgbClr val="0F6B52"/>
                </a:solidFill>
                <a:latin typeface="Helvetica Neue"/>
                <a:ea typeface="Helvetica Neue"/>
                <a:cs typeface="Helvetica Neue"/>
              </a:rPr>
              <a:t>SCOPE</a:t>
            </a:r>
          </a:p>
          <a:p xmlns:a="http://schemas.openxmlformats.org/drawingml/2006/main">
            <a:pPr algn="l">
              <a:lnSpc>
                <a:spcPct val="108000"/>
              </a:lnSpc>
              <a:buNone/>
              <a:defRPr sz="1600">
                <a:solidFill>
                  <a:srgbClr val="000000"/>
                </a:solidFill>
                <a:latin typeface="Helvetica Neue"/>
                <a:ea typeface="Helvetica Neue"/>
                <a:cs typeface="Helvetica Neue"/>
              </a:defRPr>
            </a:pPr>
            <a:r>
              <a:rPr sz="1425" b="0">
                <a:solidFill>
                  <a:srgbClr val="111A17"/>
                </a:solidFill>
                <a:latin typeface="Helvetica Neue"/>
                <a:ea typeface="Helvetica Neue"/>
                <a:cs typeface="Helvetica Neue"/>
              </a:rPr>
              <a:t>The MVP proves secure private inference inside a multi-provider router without pretending to be a full local-model management platform.</a:t>
            </a:r>
          </a:p>
        </p:txBody>
      </p:sp>
    </p:spTree>
    <p:extLst>
      <p:ext uri="{BB962C8B-B14F-4D97-AF65-F5344CB8AC3E}">
        <p14:creationId xmlns:p14="http://schemas.microsoft.com/office/powerpoint/2010/main" val="7339099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B4924909-6727-4828-BEB8-02EA5FD6FCF8}"/>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8000"/>
              </a:lnSpc>
              <a:buNone/>
              <a:defRPr sz="6000">
                <a:solidFill>
                  <a:srgbClr val="000000"/>
                </a:solidFill>
                <a:latin typeface="Helvetica Neue"/>
                <a:ea typeface="Helvetica Neue"/>
                <a:cs typeface="Helvetica Neue"/>
              </a:defRPr>
            </a:pPr>
            <a:r>
              <a:rPr sz="4950" b="1">
                <a:solidFill>
                  <a:srgbClr val="111A17"/>
                </a:solidFill>
                <a:latin typeface="Helvetica Neue"/>
                <a:ea typeface="Helvetica Neue"/>
                <a:cs typeface="Helvetica Neue"/>
              </a:rPr>
              <a:t>One API.
Cloud reliability.
Local privacy.</a:t>
            </a:r>
          </a:p>
        </p:txBody>
      </p:sp>
      <p:sp>
        <p:nvSpPr>
          <p:cNvPr id="2" name="Subtitle-4-2">
            <a:extLst xmlns:a="http://schemas.openxmlformats.org/drawingml/2006/main">
              <a:ext uri="{FF2B5EF4-FFF2-40B4-BE49-F238E27FC236}">
                <a16:creationId xmlns:a16="http://schemas.microsoft.com/office/drawing/2014/main" id="{2074DC37-1860-467E-A9CB-541F50903D6B}"/>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725" b="0">
                <a:solidFill>
                  <a:srgbClr val="53615C"/>
                </a:solidFill>
                <a:latin typeface="Helvetica Neue"/>
                <a:ea typeface="Helvetica Neue"/>
                <a:cs typeface="Helvetica Neue"/>
              </a:rPr>
              <a:t>Connect providers and Ollama</a:t>
            </a:r>
          </a:p>
          <a:p xmlns:a="http://schemas.openxmlformats.org/drawingml/2006/main">
            <a:pPr algn="l">
              <a:lnSpc>
                <a:spcPct val="108000"/>
              </a:lnSpc>
              <a:buNone/>
              <a:defRPr sz="2400">
                <a:solidFill>
                  <a:srgbClr val="000000"/>
                </a:solidFill>
                <a:latin typeface="Helvetica Neue"/>
                <a:ea typeface="Helvetica Neue"/>
                <a:cs typeface="Helvetica Neue"/>
              </a:defRPr>
            </a:pPr>
            <a:r>
              <a:rPr sz="1725" b="0">
                <a:solidFill>
                  <a:srgbClr val="53615C"/>
                </a:solidFill>
                <a:latin typeface="Helvetica Neue"/>
                <a:ea typeface="Helvetica Neue"/>
                <a:cs typeface="Helvetica Neue"/>
              </a:rPr>
              <a:t>Choose the routing policy</a:t>
            </a:r>
          </a:p>
          <a:p xmlns:a="http://schemas.openxmlformats.org/drawingml/2006/main">
            <a:pPr algn="l">
              <a:lnSpc>
                <a:spcPct val="108000"/>
              </a:lnSpc>
              <a:buNone/>
              <a:defRPr sz="2400">
                <a:solidFill>
                  <a:srgbClr val="000000"/>
                </a:solidFill>
                <a:latin typeface="Helvetica Neue"/>
                <a:ea typeface="Helvetica Neue"/>
                <a:cs typeface="Helvetica Neue"/>
              </a:defRPr>
            </a:pPr>
            <a:r>
              <a:rPr sz="1725" b="0">
                <a:solidFill>
                  <a:srgbClr val="53615C"/>
                </a:solidFill>
                <a:latin typeface="Helvetica Neue"/>
                <a:ea typeface="Helvetica Neue"/>
                <a:cs typeface="Helvetica Neue"/>
              </a:rPr>
              <a:t>Explain every request</a:t>
            </a:r>
          </a:p>
        </p:txBody>
      </p:sp>
      <p:sp>
        <p:nvSpPr>
          <p:cNvPr id="3" name="Subtitle-4-3">
            <a:extLst xmlns:a="http://schemas.openxmlformats.org/drawingml/2006/main">
              <a:ext uri="{FF2B5EF4-FFF2-40B4-BE49-F238E27FC236}">
                <a16:creationId xmlns:a16="http://schemas.microsoft.com/office/drawing/2014/main" id="{3BD6A0E9-A365-40A5-9294-6DF7E183B97C}"/>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800" b="1">
                <a:solidFill>
                  <a:srgbClr val="0F6B52"/>
                </a:solidFill>
                <a:latin typeface="Helvetica Neue"/>
                <a:ea typeface="Helvetica Neue"/>
                <a:cs typeface="Helvetica Neue"/>
              </a:rPr>
              <a:t>FREE LLM ROUTER</a:t>
            </a:r>
          </a:p>
        </p:txBody>
      </p:sp>
    </p:spTree>
    <p:extLst>
      <p:ext uri="{BB962C8B-B14F-4D97-AF65-F5344CB8AC3E}">
        <p14:creationId xmlns:p14="http://schemas.microsoft.com/office/powerpoint/2010/main" val="214191770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1" name="Slide-Number-Placeholder-3-2">
            <a:extLst xmlns:a="http://schemas.openxmlformats.org/drawingml/2006/main">
              <a:ext uri="{FF2B5EF4-FFF2-40B4-BE49-F238E27FC236}">
                <a16:creationId xmlns:a16="http://schemas.microsoft.com/office/drawing/2014/main" id="{9B6BA5CB-0920-475F-912A-7E1BA465EDF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16</a:t>
            </a:r>
          </a:p>
        </p:txBody>
      </p:sp>
      <p:sp>
        <p:nvSpPr>
          <p:cNvPr id="2" name="Title-10-3">
            <a:extLst xmlns:a="http://schemas.openxmlformats.org/drawingml/2006/main">
              <a:ext uri="{FF2B5EF4-FFF2-40B4-BE49-F238E27FC236}">
                <a16:creationId xmlns:a16="http://schemas.microsoft.com/office/drawing/2014/main" id="{6BFB475F-2A77-4301-9E08-F1641B1F672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Appendix A — Gateway and local access</a:t>
            </a:r>
          </a:p>
        </p:txBody>
      </p:sp>
      <p:sp>
        <p:nvSpPr>
          <p:cNvPr id="3" name="Content-Placeholder-15-4">
            <a:extLst xmlns:a="http://schemas.openxmlformats.org/drawingml/2006/main">
              <a:ext uri="{FF2B5EF4-FFF2-40B4-BE49-F238E27FC236}">
                <a16:creationId xmlns:a16="http://schemas.microsoft.com/office/drawing/2014/main" id="{6506941C-6D53-4A2F-BEBD-6826CEFD2A7D}"/>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5 · Protected agent</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Avoid publishing raw Ollama administration routes.</a:t>
            </a:r>
          </a:p>
        </p:txBody>
      </p:sp>
      <p:sp>
        <p:nvSpPr>
          <p:cNvPr id="4" name="Text-Placeholder-16-5">
            <a:extLst xmlns:a="http://schemas.openxmlformats.org/drawingml/2006/main">
              <a:ext uri="{FF2B5EF4-FFF2-40B4-BE49-F238E27FC236}">
                <a16:creationId xmlns:a16="http://schemas.microsoft.com/office/drawing/2014/main" id="{DA7E5666-B0E1-4D23-892B-15D6CBDC383F}"/>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6 · Account ownership</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Keep each user's computers and models isolated.</a:t>
            </a:r>
          </a:p>
        </p:txBody>
      </p:sp>
      <p:sp>
        <p:nvSpPr>
          <p:cNvPr id="5" name="Content-Placeholder-17-6">
            <a:extLst xmlns:a="http://schemas.openxmlformats.org/drawingml/2006/main">
              <a:ext uri="{FF2B5EF4-FFF2-40B4-BE49-F238E27FC236}">
                <a16:creationId xmlns:a16="http://schemas.microsoft.com/office/drawing/2014/main" id="{D43C72BD-0E01-40E0-9D8C-71242009BC11}"/>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7 · Model allowlist</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Expose stable models while hiding experiments.</a:t>
            </a:r>
          </a:p>
        </p:txBody>
      </p:sp>
      <p:sp>
        <p:nvSpPr>
          <p:cNvPr id="6" name="Text-Placeholder-18-7">
            <a:extLst xmlns:a="http://schemas.openxmlformats.org/drawingml/2006/main">
              <a:ext uri="{FF2B5EF4-FFF2-40B4-BE49-F238E27FC236}">
                <a16:creationId xmlns:a16="http://schemas.microsoft.com/office/drawing/2014/main" id="{4B01C684-3FEB-4195-B6F2-C9FE2F4A3DCB}"/>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8 · Node controls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Keep a laptop responsive under routed traffic.</a:t>
            </a:r>
          </a:p>
        </p:txBody>
      </p:sp>
      <p:sp>
        <p:nvSpPr>
          <p:cNvPr id="7" name="Content-Placeholder-15-8">
            <a:extLst xmlns:a="http://schemas.openxmlformats.org/drawingml/2006/main">
              <a:ext uri="{FF2B5EF4-FFF2-40B4-BE49-F238E27FC236}">
                <a16:creationId xmlns:a16="http://schemas.microsoft.com/office/drawing/2014/main" id="{F93A5C57-D28B-4672-BE8E-28F057BB35E0}"/>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 · One API</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Swap providers without changing application code.</a:t>
            </a:r>
          </a:p>
        </p:txBody>
      </p:sp>
      <p:sp>
        <p:nvSpPr>
          <p:cNvPr id="8" name="Text-Placeholder-16-9">
            <a:extLst xmlns:a="http://schemas.openxmlformats.org/drawingml/2006/main">
              <a:ext uri="{FF2B5EF4-FFF2-40B4-BE49-F238E27FC236}">
                <a16:creationId xmlns:a16="http://schemas.microsoft.com/office/drawing/2014/main" id="{589151E7-7332-49E0-8241-E2627FE00F59}"/>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 · BYOK cloud</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Pool existing provider accounts and free quotas.</a:t>
            </a:r>
          </a:p>
        </p:txBody>
      </p:sp>
      <p:sp>
        <p:nvSpPr>
          <p:cNvPr id="9" name="Content-Placeholder-17-10">
            <a:extLst xmlns:a="http://schemas.openxmlformats.org/drawingml/2006/main">
              <a:ext uri="{FF2B5EF4-FFF2-40B4-BE49-F238E27FC236}">
                <a16:creationId xmlns:a16="http://schemas.microsoft.com/office/drawing/2014/main" id="{F69C9D8B-D72E-4C19-B89A-ECA20B85B025}"/>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3 · Private Ollama</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Process sensitive drafts on the user's machine.</a:t>
            </a:r>
          </a:p>
        </p:txBody>
      </p:sp>
      <p:sp>
        <p:nvSpPr>
          <p:cNvPr id="10" name="Text-Placeholder-18-11">
            <a:extLst xmlns:a="http://schemas.openxmlformats.org/drawingml/2006/main">
              <a:ext uri="{FF2B5EF4-FFF2-40B4-BE49-F238E27FC236}">
                <a16:creationId xmlns:a16="http://schemas.microsoft.com/office/drawing/2014/main" id="{13089C51-E4D2-4461-B251-1BA37CF9A3BE}"/>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4 · One-command pairing</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Connect a workstation without manual networking.</a:t>
            </a:r>
          </a:p>
        </p:txBody>
      </p:sp>
    </p:spTree>
    <p:extLst>
      <p:ext uri="{BB962C8B-B14F-4D97-AF65-F5344CB8AC3E}">
        <p14:creationId xmlns:p14="http://schemas.microsoft.com/office/powerpoint/2010/main" val="402085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1" name="Slide-Number-Placeholder-3-2">
            <a:extLst xmlns:a="http://schemas.openxmlformats.org/drawingml/2006/main">
              <a:ext uri="{FF2B5EF4-FFF2-40B4-BE49-F238E27FC236}">
                <a16:creationId xmlns:a16="http://schemas.microsoft.com/office/drawing/2014/main" id="{C3F80517-2DF8-402E-A163-02AAAC79554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17</a:t>
            </a:r>
          </a:p>
        </p:txBody>
      </p:sp>
      <p:sp>
        <p:nvSpPr>
          <p:cNvPr id="2" name="Title-10-3">
            <a:extLst xmlns:a="http://schemas.openxmlformats.org/drawingml/2006/main">
              <a:ext uri="{FF2B5EF4-FFF2-40B4-BE49-F238E27FC236}">
                <a16:creationId xmlns:a16="http://schemas.microsoft.com/office/drawing/2014/main" id="{EF0BF0FA-5273-4624-8B15-2F5F8B90DBEB}"/>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Appendix B — Routing and model intelligence</a:t>
            </a:r>
          </a:p>
        </p:txBody>
      </p:sp>
      <p:sp>
        <p:nvSpPr>
          <p:cNvPr id="3" name="Content-Placeholder-15-4">
            <a:extLst xmlns:a="http://schemas.openxmlformats.org/drawingml/2006/main">
              <a:ext uri="{FF2B5EF4-FFF2-40B4-BE49-F238E27FC236}">
                <a16:creationId xmlns:a16="http://schemas.microsoft.com/office/drawing/2014/main" id="{BF3FF9CA-14E3-42DF-9427-E5C6D8F34975}"/>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13 · Model aliases</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Replace production models without redeploying clients.</a:t>
            </a:r>
          </a:p>
        </p:txBody>
      </p:sp>
      <p:sp>
        <p:nvSpPr>
          <p:cNvPr id="4" name="Text-Placeholder-16-5">
            <a:extLst xmlns:a="http://schemas.openxmlformats.org/drawingml/2006/main">
              <a:ext uri="{FF2B5EF4-FFF2-40B4-BE49-F238E27FC236}">
                <a16:creationId xmlns:a16="http://schemas.microsoft.com/office/drawing/2014/main" id="{D006DDF2-205B-413B-8BF8-D82EFBA52296}"/>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14 · Capability routing</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Send image prompts only to vision-capable models.</a:t>
            </a:r>
          </a:p>
        </p:txBody>
      </p:sp>
      <p:sp>
        <p:nvSpPr>
          <p:cNvPr id="5" name="Content-Placeholder-17-6">
            <a:extLst xmlns:a="http://schemas.openxmlformats.org/drawingml/2006/main">
              <a:ext uri="{FF2B5EF4-FFF2-40B4-BE49-F238E27FC236}">
                <a16:creationId xmlns:a16="http://schemas.microsoft.com/office/drawing/2014/main" id="{47533F52-F6E9-4D35-BC56-B3EECFF05B0B}"/>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15 · Capability probes</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Verify a new model before agent traffic uses it.</a:t>
            </a:r>
          </a:p>
        </p:txBody>
      </p:sp>
      <p:sp>
        <p:nvSpPr>
          <p:cNvPr id="6" name="Text-Placeholder-18-7">
            <a:extLst xmlns:a="http://schemas.openxmlformats.org/drawingml/2006/main">
              <a:ext uri="{FF2B5EF4-FFF2-40B4-BE49-F238E27FC236}">
                <a16:creationId xmlns:a16="http://schemas.microsoft.com/office/drawing/2014/main" id="{C9D5C777-6DFB-460D-9A45-CDF015CD495E}"/>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16 · Model catalogs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Test a replacement before activating it.</a:t>
            </a:r>
          </a:p>
        </p:txBody>
      </p:sp>
      <p:sp>
        <p:nvSpPr>
          <p:cNvPr id="7" name="Content-Placeholder-15-8">
            <a:extLst xmlns:a="http://schemas.openxmlformats.org/drawingml/2006/main">
              <a:ext uri="{FF2B5EF4-FFF2-40B4-BE49-F238E27FC236}">
                <a16:creationId xmlns:a16="http://schemas.microsoft.com/office/drawing/2014/main" id="{83A83CFC-D178-44DD-A857-18E5435D509A}"/>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9 · Local modes</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Choose balanced, local-first, or local-only behavior.</a:t>
            </a:r>
          </a:p>
        </p:txBody>
      </p:sp>
      <p:sp>
        <p:nvSpPr>
          <p:cNvPr id="8" name="Text-Placeholder-16-9">
            <a:extLst xmlns:a="http://schemas.openxmlformats.org/drawingml/2006/main">
              <a:ext uri="{FF2B5EF4-FFF2-40B4-BE49-F238E27FC236}">
                <a16:creationId xmlns:a16="http://schemas.microsoft.com/office/drawing/2014/main" id="{418FE086-5B09-458D-9EDC-12DB281498FD}"/>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10 · Failover</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Survive a provider error before output begins.</a:t>
            </a:r>
          </a:p>
        </p:txBody>
      </p:sp>
      <p:sp>
        <p:nvSpPr>
          <p:cNvPr id="9" name="Content-Placeholder-17-10">
            <a:extLst xmlns:a="http://schemas.openxmlformats.org/drawingml/2006/main">
              <a:ext uri="{FF2B5EF4-FFF2-40B4-BE49-F238E27FC236}">
                <a16:creationId xmlns:a16="http://schemas.microsoft.com/office/drawing/2014/main" id="{E0E0267E-D010-484B-AE1A-FADA3CA3657D}"/>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11 · Local-cloud fallback</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Continue when a permitted workstation is asleep.</a:t>
            </a:r>
          </a:p>
        </p:txBody>
      </p:sp>
      <p:sp>
        <p:nvSpPr>
          <p:cNvPr id="10" name="Text-Placeholder-18-11">
            <a:extLst xmlns:a="http://schemas.openxmlformats.org/drawingml/2006/main">
              <a:ext uri="{FF2B5EF4-FFF2-40B4-BE49-F238E27FC236}">
                <a16:creationId xmlns:a16="http://schemas.microsoft.com/office/drawing/2014/main" id="{411852EC-8F40-4783-A64A-63CBD02029B7}"/>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12 · Six strategies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Optimize for priority, speed, spread, or reliability.</a:t>
            </a:r>
          </a:p>
        </p:txBody>
      </p:sp>
    </p:spTree>
    <p:extLst>
      <p:ext uri="{BB962C8B-B14F-4D97-AF65-F5344CB8AC3E}">
        <p14:creationId xmlns:p14="http://schemas.microsoft.com/office/powerpoint/2010/main" val="89205675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1" name="Slide-Number-Placeholder-3-2">
            <a:extLst xmlns:a="http://schemas.openxmlformats.org/drawingml/2006/main">
              <a:ext uri="{FF2B5EF4-FFF2-40B4-BE49-F238E27FC236}">
                <a16:creationId xmlns:a16="http://schemas.microsoft.com/office/drawing/2014/main" id="{88A9DDB0-30E8-4C5A-B0E8-FBE716F709F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18</a:t>
            </a:r>
          </a:p>
        </p:txBody>
      </p:sp>
      <p:sp>
        <p:nvSpPr>
          <p:cNvPr id="2" name="Title-10-3">
            <a:extLst xmlns:a="http://schemas.openxmlformats.org/drawingml/2006/main">
              <a:ext uri="{FF2B5EF4-FFF2-40B4-BE49-F238E27FC236}">
                <a16:creationId xmlns:a16="http://schemas.microsoft.com/office/drawing/2014/main" id="{3DDAF87D-2B7C-443C-95A9-0BBA1D48A19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Appendix C — Testing + reliability</a:t>
            </a:r>
          </a:p>
        </p:txBody>
      </p:sp>
      <p:sp>
        <p:nvSpPr>
          <p:cNvPr id="3" name="Content-Placeholder-15-4">
            <a:extLst xmlns:a="http://schemas.openxmlformats.org/drawingml/2006/main">
              <a:ext uri="{FF2B5EF4-FFF2-40B4-BE49-F238E27FC236}">
                <a16:creationId xmlns:a16="http://schemas.microsoft.com/office/drawing/2014/main" id="{68C7147E-D7A7-4780-B2CA-7FC0EDC2CD5E}"/>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21 · Quota protection</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Preserve daily requests for important traffic.</a:t>
            </a:r>
          </a:p>
        </p:txBody>
      </p:sp>
      <p:sp>
        <p:nvSpPr>
          <p:cNvPr id="4" name="Text-Placeholder-16-5">
            <a:extLst xmlns:a="http://schemas.openxmlformats.org/drawingml/2006/main">
              <a:ext uri="{FF2B5EF4-FFF2-40B4-BE49-F238E27FC236}">
                <a16:creationId xmlns:a16="http://schemas.microsoft.com/office/drawing/2014/main" id="{C9E8B14F-7C9B-46C7-BD35-20A78475C5C7}"/>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22 · Retry deadlines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Meet a chat application's response-time budget.</a:t>
            </a:r>
          </a:p>
        </p:txBody>
      </p:sp>
      <p:sp>
        <p:nvSpPr>
          <p:cNvPr id="5" name="Content-Placeholder-17-6">
            <a:extLst xmlns:a="http://schemas.openxmlformats.org/drawingml/2006/main">
              <a:ext uri="{FF2B5EF4-FFF2-40B4-BE49-F238E27FC236}">
                <a16:creationId xmlns:a16="http://schemas.microsoft.com/office/drawing/2014/main" id="{D3605397-9168-4C90-96E3-A899AD1E6311}"/>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23 · Deduplication</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Turn a double-click into one billed operation.</a:t>
            </a:r>
          </a:p>
        </p:txBody>
      </p:sp>
      <p:sp>
        <p:nvSpPr>
          <p:cNvPr id="6" name="Text-Placeholder-18-7">
            <a:extLst xmlns:a="http://schemas.openxmlformats.org/drawingml/2006/main">
              <a:ext uri="{FF2B5EF4-FFF2-40B4-BE49-F238E27FC236}">
                <a16:creationId xmlns:a16="http://schemas.microsoft.com/office/drawing/2014/main" id="{00F693CE-8E9A-463A-881F-E3213C65C247}"/>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24 · Stream cancellation</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Release a GPU when the user presses stop.</a:t>
            </a:r>
          </a:p>
        </p:txBody>
      </p:sp>
      <p:sp>
        <p:nvSpPr>
          <p:cNvPr id="7" name="Content-Placeholder-15-8">
            <a:extLst xmlns:a="http://schemas.openxmlformats.org/drawingml/2006/main">
              <a:ext uri="{FF2B5EF4-FFF2-40B4-BE49-F238E27FC236}">
                <a16:creationId xmlns:a16="http://schemas.microsoft.com/office/drawing/2014/main" id="{65F05EB7-7DCF-46EA-A940-1B019ADE9235}"/>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17 · Three test modes</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Separate routing faults from exact-model faults.</a:t>
            </a:r>
          </a:p>
        </p:txBody>
      </p:sp>
      <p:sp>
        <p:nvSpPr>
          <p:cNvPr id="8" name="Text-Placeholder-16-9">
            <a:extLst xmlns:a="http://schemas.openxmlformats.org/drawingml/2006/main">
              <a:ext uri="{FF2B5EF4-FFF2-40B4-BE49-F238E27FC236}">
                <a16:creationId xmlns:a16="http://schemas.microsoft.com/office/drawing/2014/main" id="{79B234EF-7CA5-4AAE-A4B9-48A01EE3AD68}"/>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18 · Generation controls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Validate short deterministic JSON output.</a:t>
            </a:r>
          </a:p>
        </p:txBody>
      </p:sp>
      <p:sp>
        <p:nvSpPr>
          <p:cNvPr id="9" name="Content-Placeholder-17-10">
            <a:extLst xmlns:a="http://schemas.openxmlformats.org/drawingml/2006/main">
              <a:ext uri="{FF2B5EF4-FFF2-40B4-BE49-F238E27FC236}">
                <a16:creationId xmlns:a16="http://schemas.microsoft.com/office/drawing/2014/main" id="{39FC7F05-6A34-40A1-9C96-3445FB103132}"/>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19 · Cooldowns</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Stop wasting calls on a rate-limited free API.</a:t>
            </a:r>
          </a:p>
        </p:txBody>
      </p:sp>
      <p:sp>
        <p:nvSpPr>
          <p:cNvPr id="10" name="Text-Placeholder-18-11">
            <a:extLst xmlns:a="http://schemas.openxmlformats.org/drawingml/2006/main">
              <a:ext uri="{FF2B5EF4-FFF2-40B4-BE49-F238E27FC236}">
                <a16:creationId xmlns:a16="http://schemas.microsoft.com/office/drawing/2014/main" id="{A1D124D9-1020-432E-A708-51392AFC7838}"/>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20 · Circuit breakers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Remove an outage from the hot request path.</a:t>
            </a:r>
          </a:p>
        </p:txBody>
      </p:sp>
    </p:spTree>
    <p:extLst>
      <p:ext uri="{BB962C8B-B14F-4D97-AF65-F5344CB8AC3E}">
        <p14:creationId xmlns:p14="http://schemas.microsoft.com/office/powerpoint/2010/main" val="119180794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1" name="Slide-Number-Placeholder-3-2">
            <a:extLst xmlns:a="http://schemas.openxmlformats.org/drawingml/2006/main">
              <a:ext uri="{FF2B5EF4-FFF2-40B4-BE49-F238E27FC236}">
                <a16:creationId xmlns:a16="http://schemas.microsoft.com/office/drawing/2014/main" id="{897FCB6A-EBC1-452C-9C48-CB8AC2E9B67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19</a:t>
            </a:r>
          </a:p>
        </p:txBody>
      </p:sp>
      <p:sp>
        <p:nvSpPr>
          <p:cNvPr id="2" name="Title-10-3">
            <a:extLst xmlns:a="http://schemas.openxmlformats.org/drawingml/2006/main">
              <a:ext uri="{FF2B5EF4-FFF2-40B4-BE49-F238E27FC236}">
                <a16:creationId xmlns:a16="http://schemas.microsoft.com/office/drawing/2014/main" id="{89216455-6304-4C20-92C5-6EE12953D73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00" b="1">
                <a:solidFill>
                  <a:srgbClr val="0F6B52"/>
                </a:solidFill>
                <a:latin typeface="Helvetica Neue"/>
                <a:ea typeface="Helvetica Neue"/>
                <a:cs typeface="Helvetica Neue"/>
              </a:rPr>
              <a:t>Appendix D — Operations, security and integration</a:t>
            </a:r>
          </a:p>
        </p:txBody>
      </p:sp>
      <p:sp>
        <p:nvSpPr>
          <p:cNvPr id="3" name="Content-Placeholder-15-4">
            <a:extLst xmlns:a="http://schemas.openxmlformats.org/drawingml/2006/main">
              <a:ext uri="{FF2B5EF4-FFF2-40B4-BE49-F238E27FC236}">
                <a16:creationId xmlns:a16="http://schemas.microsoft.com/office/drawing/2014/main" id="{65C55CFB-6600-499A-A257-2A25156DA026}"/>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29 · Auth isolation</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Safely host several developers on one instance.</a:t>
            </a:r>
          </a:p>
        </p:txBody>
      </p:sp>
      <p:sp>
        <p:nvSpPr>
          <p:cNvPr id="4" name="Text-Placeholder-16-5">
            <a:extLst xmlns:a="http://schemas.openxmlformats.org/drawingml/2006/main">
              <a:ext uri="{FF2B5EF4-FFF2-40B4-BE49-F238E27FC236}">
                <a16:creationId xmlns:a16="http://schemas.microsoft.com/office/drawing/2014/main" id="{EC2208C7-AAF4-4B4F-87D7-C7765A8EE318}"/>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30 · Encrypted keys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Protect saved cloud credentials at rest.</a:t>
            </a:r>
          </a:p>
        </p:txBody>
      </p:sp>
      <p:sp>
        <p:nvSpPr>
          <p:cNvPr id="5" name="Content-Placeholder-17-6">
            <a:extLst xmlns:a="http://schemas.openxmlformats.org/drawingml/2006/main">
              <a:ext uri="{FF2B5EF4-FFF2-40B4-BE49-F238E27FC236}">
                <a16:creationId xmlns:a16="http://schemas.microsoft.com/office/drawing/2014/main" id="{F7A10A6C-0FFE-4C5E-83E9-DE30193661CB}"/>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31 · Node lifecycle</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Revoke and remove an employee's retired computer.</a:t>
            </a:r>
          </a:p>
        </p:txBody>
      </p:sp>
      <p:sp>
        <p:nvSpPr>
          <p:cNvPr id="6" name="Text-Placeholder-18-7">
            <a:extLst xmlns:a="http://schemas.openxmlformats.org/drawingml/2006/main">
              <a:ext uri="{FF2B5EF4-FFF2-40B4-BE49-F238E27FC236}">
                <a16:creationId xmlns:a16="http://schemas.microsoft.com/office/drawing/2014/main" id="{2B0776C4-235A-4B05-A3EB-479DEBCB41FF}"/>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32 · Integration snippets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Connect an existing SDK by changing two values.</a:t>
            </a:r>
          </a:p>
        </p:txBody>
      </p:sp>
      <p:sp>
        <p:nvSpPr>
          <p:cNvPr id="7" name="Content-Placeholder-15-8">
            <a:extLst xmlns:a="http://schemas.openxmlformats.org/drawingml/2006/main">
              <a:ext uri="{FF2B5EF4-FFF2-40B4-BE49-F238E27FC236}">
                <a16:creationId xmlns:a16="http://schemas.microsoft.com/office/drawing/2014/main" id="{1BC22FD1-25FF-46B7-943A-A224AA95B96D}"/>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25 · Analytics</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Discover that traffic favors the slowest provider.</a:t>
            </a:r>
          </a:p>
        </p:txBody>
      </p:sp>
      <p:sp>
        <p:nvSpPr>
          <p:cNvPr id="8" name="Text-Placeholder-16-9">
            <a:extLst xmlns:a="http://schemas.openxmlformats.org/drawingml/2006/main">
              <a:ext uri="{FF2B5EF4-FFF2-40B4-BE49-F238E27FC236}">
                <a16:creationId xmlns:a16="http://schemas.microsoft.com/office/drawing/2014/main" id="{E321DBAF-1879-4024-9BDF-0FEFB6EB238B}"/>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26 · Attempt timeline</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See where fallback added six seconds.</a:t>
            </a:r>
          </a:p>
        </p:txBody>
      </p:sp>
      <p:sp>
        <p:nvSpPr>
          <p:cNvPr id="9" name="Content-Placeholder-17-10">
            <a:extLst xmlns:a="http://schemas.openxmlformats.org/drawingml/2006/main">
              <a:ext uri="{FF2B5EF4-FFF2-40B4-BE49-F238E27FC236}">
                <a16:creationId xmlns:a16="http://schemas.microsoft.com/office/drawing/2014/main" id="{5230AA03-1E43-4466-A51E-4DF7EA0CBCF7}"/>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6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27 · Performance timing</a:t>
            </a:r>
          </a:p>
          <a:p xmlns:a="http://schemas.openxmlformats.org/drawingml/2006/main">
            <a:pPr algn="l">
              <a:lnSpc>
                <a:spcPct val="108000"/>
              </a:lnSpc>
              <a:buNone/>
              <a:defRPr sz="16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Distinguish first-token delay from stream speed.</a:t>
            </a:r>
          </a:p>
        </p:txBody>
      </p:sp>
      <p:sp>
        <p:nvSpPr>
          <p:cNvPr id="10" name="Text-Placeholder-18-11">
            <a:extLst xmlns:a="http://schemas.openxmlformats.org/drawingml/2006/main">
              <a:ext uri="{FF2B5EF4-FFF2-40B4-BE49-F238E27FC236}">
                <a16:creationId xmlns:a16="http://schemas.microsoft.com/office/drawing/2014/main" id="{B1216A2E-C02B-4AA6-83C3-C9AF8D6ED8A4}"/>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450"/>
              </a:spcAft>
              <a:buNone/>
              <a:defRPr sz="1800">
                <a:solidFill>
                  <a:srgbClr val="000000"/>
                </a:solidFill>
                <a:latin typeface="Helvetica Neue"/>
                <a:ea typeface="Helvetica Neue"/>
                <a:cs typeface="Helvetica Neue"/>
              </a:defRPr>
            </a:pPr>
            <a:r>
              <a:rPr sz="1500" b="1">
                <a:solidFill>
                  <a:srgbClr val="0F6B52"/>
                </a:solidFill>
                <a:latin typeface="Helvetica Neue"/>
                <a:ea typeface="Helvetica Neue"/>
                <a:cs typeface="Helvetica Neue"/>
              </a:rPr>
              <a:t>28 · Request IDs</a:t>
            </a:r>
          </a:p>
          <a:p xmlns:a="http://schemas.openxmlformats.org/drawingml/2006/main">
            <a:pPr algn="l">
              <a:lnSpc>
                <a:spcPct val="108000"/>
              </a:lnSpc>
              <a:buNone/>
              <a:defRPr sz="1800">
                <a:solidFill>
                  <a:srgbClr val="000000"/>
                </a:solidFill>
                <a:latin typeface="Helvetica Neue"/>
                <a:ea typeface="Helvetica Neue"/>
                <a:cs typeface="Helvetica Neue"/>
              </a:defRPr>
            </a:pPr>
            <a:r>
              <a:rPr sz="1200" b="0">
                <a:solidFill>
                  <a:srgbClr val="53615C"/>
                </a:solidFill>
                <a:latin typeface="Helvetica Neue"/>
                <a:ea typeface="Helvetica Neue"/>
                <a:cs typeface="Helvetica Neue"/>
              </a:rPr>
              <a:t>Trace a customer's exact failed operation.</a:t>
            </a:r>
          </a:p>
        </p:txBody>
      </p:sp>
    </p:spTree>
    <p:extLst>
      <p:ext uri="{BB962C8B-B14F-4D97-AF65-F5344CB8AC3E}">
        <p14:creationId xmlns:p14="http://schemas.microsoft.com/office/powerpoint/2010/main" val="11931618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2026-08-01T06:20:42.0290000Z</dcterms:created>
  <dcterms:modified xsi:type="dcterms:W3CDTF">2026-08-01T06:20:42.0290000Z</dcterms:modified>
</coreProperties>
</file>